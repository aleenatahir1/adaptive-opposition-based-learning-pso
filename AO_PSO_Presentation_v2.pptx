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9" d="100"/>
          <a:sy n="39" d="100"/>
        </p:scale>
        <p:origin x="102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3506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Aleena opens. Title only -- introduce the project name; do not list members yet (next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Aleena -- one quick sentence per member's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Aleena -- 30 seconds; tell the audience what to expect.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Malaika -- explain motivation; emphasise the two failure modes.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Sadia -- read the four families and the four open problems below. Those open problems map one-to-one onto our value additions.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Aena -- O-PSO is clean and minimal. Everything after this slide is our improvement on top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Aena -- the peach (VA-4) chip is the novel one. The other six are principled re-uses from the literature, packaged together for the first time inside the O-PSO plug-in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Saqlain -- chaotic init costs nothing extra; GOBL is a one-line formula change but a much richer opposite.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Saqlain -- explain that without an adaptive Jr the FE budget is wasted on OBL late in the search when the swarm has already converged.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Saqlain / Aena -- THE novel slide. Spend a beat on the two regimes. The 'Adaptive Jr in action' slide later will show this actually behaving as the formula predicts.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Saqlain -- VA-5 is the most under-used trick in the literature; VA-6 is a tiny coefficient with a real effect at D=30.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Inshal -- explain why we changed the x-axis to FEs and why Wilcoxon (not t-test) is correct for non-Gaussian fitness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Eman -- walk through Stage 1 and Stage 2. Highlight VA-4 (the red novel block) in the middle of Stage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Inshal -- emphasise that we matched O-PSO's exact benchmark set for direct comparability, then added two harder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Inshal -- pause on Sphere D=30 (1e-106 vs 6.7e+02) and on Rastrigin and Griewank reaching exact zero. Acknowledge Schwefel.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Inshal -- green check is significant. We pass on 5 of 6 benchmarks at D=30. The Schwefel row is the only loss; we deal with it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Aena -- own the loss. This honesty is what our literature review said the OBL-PSO field needs more 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0" y="-3200400"/>
            <a:ext cx="8229600" cy="8229600"/>
          </a:xfrm>
          <a:prstGeom prst="ellipse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13716000" y="5715000"/>
            <a:ext cx="6400800" cy="6400800"/>
          </a:xfrm>
          <a:prstGeom prst="ellipse">
            <a:avLst/>
          </a:prstGeom>
          <a:solidFill>
            <a:srgbClr val="C7D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-1371600"/>
            <a:ext cx="2286000" cy="2286000"/>
          </a:xfrm>
          <a:prstGeom prst="ellipse">
            <a:avLst/>
          </a:prstGeom>
          <a:solidFill>
            <a:srgbClr val="ECB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71600" y="7543800"/>
            <a:ext cx="1645920" cy="1645920"/>
          </a:xfrm>
          <a:prstGeom prst="ellipse">
            <a:avLst/>
          </a:prstGeom>
          <a:solidFill>
            <a:srgbClr val="FF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017520" y="2011680"/>
            <a:ext cx="320040" cy="320040"/>
          </a:xfrm>
          <a:prstGeom prst="ellipse">
            <a:avLst/>
          </a:prstGeom>
          <a:solidFill>
            <a:srgbClr val="FF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544800" y="3200400"/>
            <a:ext cx="320040" cy="320040"/>
          </a:xfrm>
          <a:prstGeom prst="ellipse">
            <a:avLst/>
          </a:prstGeom>
          <a:solidFill>
            <a:srgbClr val="C6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4173200" y="7772400"/>
            <a:ext cx="320040" cy="320040"/>
          </a:xfrm>
          <a:prstGeom prst="ellipse">
            <a:avLst/>
          </a:prstGeom>
          <a:solidFill>
            <a:srgbClr val="ECB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560320" y="2377440"/>
            <a:ext cx="1316736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3291840"/>
            <a:ext cx="11887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0" b="1" i="0">
                <a:solidFill>
                  <a:srgbClr val="1B2C4A"/>
                </a:solidFill>
                <a:latin typeface="Radika Next"/>
              </a:rPr>
              <a:t>AO-PSO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120640"/>
            <a:ext cx="11887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Radika Next"/>
              </a:rPr>
              <a:t>Adaptive Opposition-Based Particle Swarm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5852160"/>
            <a:ext cx="11887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555555"/>
                </a:solidFill>
                <a:latin typeface="Neue Montreal"/>
              </a:rPr>
              <a:t>with Chaotic Initialization, Generalized Opposites,
and Diversity-Driven Generation Jumping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011680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0" b="1">
                <a:solidFill>
                  <a:srgbClr val="75BBEE"/>
                </a:solidFill>
                <a:latin typeface="Radika Nex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914400"/>
            <a:ext cx="1280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75BBEE"/>
                </a:solidFill>
                <a:latin typeface="Neue Montreal"/>
              </a:rPr>
              <a:t>MEET 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2801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>
                <a:solidFill>
                  <a:srgbClr val="1B2C4A"/>
                </a:solidFill>
                <a:latin typeface="Radika Next"/>
              </a:rPr>
              <a:t>Group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423160"/>
            <a:ext cx="1280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  <a:latin typeface="Neue Montreal"/>
              </a:rPr>
              <a:t>Department of Artificial Intelligence  /  Semester 6  /  Instructor: Lec. Faria Sajjad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2980" y="3474720"/>
            <a:ext cx="3840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82980" y="3474720"/>
            <a:ext cx="3840480" cy="640080"/>
          </a:xfrm>
          <a:prstGeom prst="rect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57300" y="4389120"/>
            <a:ext cx="1188720" cy="1188720"/>
          </a:xfrm>
          <a:prstGeom prst="ellipse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57300" y="4389120"/>
            <a:ext cx="1188720" cy="11887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Radika Next"/>
              </a:rPr>
              <a:t>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900" y="44348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  <a:latin typeface="Neue Montreal"/>
              </a:rPr>
              <a:t>Roll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300" y="56235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B2C4A"/>
                </a:solidFill>
                <a:latin typeface="Radika Next"/>
              </a:rPr>
              <a:t>Aleena Tahir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7300" y="5897880"/>
            <a:ext cx="32918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 dirty="0">
                <a:solidFill>
                  <a:srgbClr val="555555"/>
                </a:solidFill>
                <a:latin typeface="Neue Montreal"/>
              </a:rPr>
              <a:t>IEEE compilation</a:t>
            </a:r>
            <a:r>
              <a:rPr lang="en-US" sz="1200" b="0" i="1" dirty="0">
                <a:solidFill>
                  <a:srgbClr val="555555"/>
                </a:solidFill>
                <a:latin typeface="Neue Montreal"/>
              </a:rPr>
              <a:t> and Implementation</a:t>
            </a:r>
            <a:endParaRPr sz="1200" b="0" i="1" dirty="0">
              <a:solidFill>
                <a:srgbClr val="555555"/>
              </a:solidFill>
              <a:latin typeface="Neue Montre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143500" y="3474720"/>
            <a:ext cx="3840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43500" y="3474720"/>
            <a:ext cx="3840480" cy="640080"/>
          </a:xfrm>
          <a:prstGeom prst="rect">
            <a:avLst/>
          </a:prstGeom>
          <a:solidFill>
            <a:srgbClr val="C7D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417820" y="4389120"/>
            <a:ext cx="1188720" cy="1188720"/>
          </a:xfrm>
          <a:prstGeom prst="ellipse">
            <a:avLst/>
          </a:prstGeom>
          <a:solidFill>
            <a:srgbClr val="C7D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17820" y="4389120"/>
            <a:ext cx="1188720" cy="11887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Radika Next"/>
              </a:rPr>
              <a:t>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9420" y="44348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  <a:latin typeface="Neue Montreal"/>
              </a:rPr>
              <a:t>Roll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7820" y="56235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C4A"/>
                </a:solidFill>
                <a:latin typeface="Radika Next"/>
              </a:rPr>
              <a:t>Eman Asghar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7820" y="58978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Neue Montreal"/>
              </a:rPr>
              <a:t>Diagrams &amp; visuals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04020" y="3474720"/>
            <a:ext cx="3840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04020" y="3474720"/>
            <a:ext cx="3840480" cy="640080"/>
          </a:xfrm>
          <a:prstGeom prst="rect">
            <a:avLst/>
          </a:prstGeom>
          <a:solidFill>
            <a:srgbClr val="ECB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578340" y="4389120"/>
            <a:ext cx="1188720" cy="1188720"/>
          </a:xfrm>
          <a:prstGeom prst="ellipse">
            <a:avLst/>
          </a:prstGeom>
          <a:solidFill>
            <a:srgbClr val="ECB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78340" y="4389120"/>
            <a:ext cx="1188720" cy="11887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Radika Next"/>
              </a:rPr>
              <a:t>AH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49940" y="44348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  <a:latin typeface="Neue Montreal"/>
              </a:rPr>
              <a:t>Roll 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8340" y="56235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C4A"/>
                </a:solidFill>
                <a:latin typeface="Radika Next"/>
              </a:rPr>
              <a:t>Aena Habib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8340" y="58978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Neue Montreal"/>
              </a:rPr>
              <a:t>Value addition lead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464540" y="3474720"/>
            <a:ext cx="3840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3464540" y="3474720"/>
            <a:ext cx="3840480" cy="640080"/>
          </a:xfrm>
          <a:prstGeom prst="rect">
            <a:avLst/>
          </a:prstGeom>
          <a:solidFill>
            <a:srgbClr val="FF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3738860" y="4389120"/>
            <a:ext cx="1188720" cy="1188720"/>
          </a:xfrm>
          <a:prstGeom prst="ellipse">
            <a:avLst/>
          </a:prstGeom>
          <a:solidFill>
            <a:srgbClr val="FF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738860" y="4389120"/>
            <a:ext cx="1188720" cy="11887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Radika Next"/>
              </a:rPr>
              <a:t>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10460" y="44348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  <a:latin typeface="Neue Montreal"/>
              </a:rPr>
              <a:t>Roll 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38860" y="56235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C4A"/>
                </a:solidFill>
                <a:latin typeface="Radika Next"/>
              </a:rPr>
              <a:t>Malaika Akhter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38860" y="58978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Neue Montreal"/>
              </a:rPr>
              <a:t>Abstract &amp; intro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2980" y="6583680"/>
            <a:ext cx="3840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82980" y="6583680"/>
            <a:ext cx="3840480" cy="640080"/>
          </a:xfrm>
          <a:prstGeom prst="rect">
            <a:avLst/>
          </a:prstGeom>
          <a:solidFill>
            <a:srgbClr val="C6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257300" y="7498080"/>
            <a:ext cx="1188720" cy="1188720"/>
          </a:xfrm>
          <a:prstGeom prst="ellipse">
            <a:avLst/>
          </a:prstGeom>
          <a:solidFill>
            <a:srgbClr val="C6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57300" y="7498080"/>
            <a:ext cx="1188720" cy="11887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Radika Next"/>
              </a:rPr>
              <a:t>DK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28900" y="75438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  <a:latin typeface="Neue Montreal"/>
              </a:rPr>
              <a:t>Roll 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57300" y="873252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C4A"/>
                </a:solidFill>
                <a:latin typeface="Radika Next"/>
              </a:rPr>
              <a:t>Dua Kamal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7300" y="9006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Neue Montreal"/>
              </a:rPr>
              <a:t>Presentation design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43500" y="6583680"/>
            <a:ext cx="3840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143500" y="6583680"/>
            <a:ext cx="3840480" cy="640080"/>
          </a:xfrm>
          <a:prstGeom prst="rect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5417820" y="7498080"/>
            <a:ext cx="1188720" cy="1188720"/>
          </a:xfrm>
          <a:prstGeom prst="ellipse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17820" y="7498080"/>
            <a:ext cx="1188720" cy="11887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Radika Next"/>
              </a:rPr>
              <a:t>SM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89420" y="75438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  <a:latin typeface="Neue Montreal"/>
              </a:rPr>
              <a:t>Roll 29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17820" y="873252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C4A"/>
                </a:solidFill>
                <a:latin typeface="Radika Next"/>
              </a:rPr>
              <a:t>Sadia Mazhar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17820" y="9006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Neue Montreal"/>
              </a:rPr>
              <a:t>Related work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04020" y="6583680"/>
            <a:ext cx="3840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304020" y="6583680"/>
            <a:ext cx="3840480" cy="640080"/>
          </a:xfrm>
          <a:prstGeom prst="rect">
            <a:avLst/>
          </a:prstGeom>
          <a:solidFill>
            <a:srgbClr val="C7D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578340" y="7498080"/>
            <a:ext cx="1188720" cy="1188720"/>
          </a:xfrm>
          <a:prstGeom prst="ellipse">
            <a:avLst/>
          </a:prstGeom>
          <a:solidFill>
            <a:srgbClr val="C7D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578340" y="7498080"/>
            <a:ext cx="1188720" cy="11887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Radika Next"/>
              </a:rPr>
              <a:t>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49940" y="75438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  <a:latin typeface="Neue Montreal"/>
              </a:rPr>
              <a:t>Roll 38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78340" y="873252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C4A"/>
                </a:solidFill>
                <a:latin typeface="Radika Next"/>
              </a:rPr>
              <a:t>Inshal Adil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78340" y="9006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Neue Montreal"/>
              </a:rPr>
              <a:t>Results analysis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3464540" y="6583680"/>
            <a:ext cx="3840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3464540" y="6583680"/>
            <a:ext cx="3840480" cy="640080"/>
          </a:xfrm>
          <a:prstGeom prst="rect">
            <a:avLst/>
          </a:prstGeom>
          <a:solidFill>
            <a:srgbClr val="ECB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3738860" y="7498080"/>
            <a:ext cx="1188720" cy="1188720"/>
          </a:xfrm>
          <a:prstGeom prst="ellipse">
            <a:avLst/>
          </a:prstGeom>
          <a:solidFill>
            <a:srgbClr val="ECB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3738860" y="7498080"/>
            <a:ext cx="1188720" cy="11887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Radika Next"/>
              </a:rPr>
              <a:t>SA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110460" y="75438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  <a:latin typeface="Neue Montreal"/>
              </a:rPr>
              <a:t>Roll 48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738860" y="873252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C4A"/>
                </a:solidFill>
                <a:latin typeface="Radika Next"/>
              </a:rPr>
              <a:t>Saqlain Abbas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738860" y="9006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Neue Montreal"/>
              </a:rPr>
              <a:t>Implementation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011680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0" b="1">
                <a:solidFill>
                  <a:srgbClr val="C7D157"/>
                </a:solidFill>
                <a:latin typeface="Radika Next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914400"/>
            <a:ext cx="1280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C7D157"/>
                </a:solidFill>
                <a:latin typeface="Neue Montreal"/>
              </a:rPr>
              <a:t>WHAT YOU WILL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2801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>
                <a:solidFill>
                  <a:srgbClr val="1B2C4A"/>
                </a:solidFill>
                <a:latin typeface="Radika Next"/>
              </a:rPr>
              <a:t>Agenda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383280"/>
            <a:ext cx="6766560" cy="10515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176272" y="3547872"/>
            <a:ext cx="731520" cy="731520"/>
          </a:xfrm>
          <a:prstGeom prst="ellipse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3547872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adika Nex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657600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C4A"/>
                </a:solidFill>
                <a:latin typeface="Radika Next"/>
              </a:rPr>
              <a:t>Problem &amp; motivation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709160"/>
            <a:ext cx="6766560" cy="10515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176272" y="4873752"/>
            <a:ext cx="731520" cy="731520"/>
          </a:xfrm>
          <a:prstGeom prst="ellipse">
            <a:avLst/>
          </a:prstGeom>
          <a:solidFill>
            <a:srgbClr val="C7D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76272" y="4873752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adika Next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983480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C4A"/>
                </a:solidFill>
                <a:latin typeface="Radika Next"/>
              </a:rPr>
              <a:t>Related work &amp; focal paper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6035040"/>
            <a:ext cx="6766560" cy="10515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176272" y="6199632"/>
            <a:ext cx="731520" cy="731520"/>
          </a:xfrm>
          <a:prstGeom prst="ellipse">
            <a:avLst/>
          </a:prstGeom>
          <a:solidFill>
            <a:srgbClr val="ECB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76272" y="6199632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adika Next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6309360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C4A"/>
                </a:solidFill>
                <a:latin typeface="Radika Next"/>
              </a:rPr>
              <a:t>Our seven value additions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7360920"/>
            <a:ext cx="6766560" cy="10515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176272" y="7525512"/>
            <a:ext cx="731520" cy="731520"/>
          </a:xfrm>
          <a:prstGeom prst="ellipse">
            <a:avLst/>
          </a:prstGeom>
          <a:solidFill>
            <a:srgbClr val="FF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76272" y="7525512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adika Next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7635240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C4A"/>
                </a:solidFill>
                <a:latin typeface="Radika Next"/>
              </a:rPr>
              <a:t>Architecture &amp; 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3383280"/>
            <a:ext cx="6766560" cy="10515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674352" y="3547872"/>
            <a:ext cx="731520" cy="731520"/>
          </a:xfrm>
          <a:prstGeom prst="ellipse">
            <a:avLst/>
          </a:prstGeom>
          <a:solidFill>
            <a:srgbClr val="C6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74352" y="3547872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adika Next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3657600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C4A"/>
                </a:solidFill>
                <a:latin typeface="Radika Next"/>
              </a:rPr>
              <a:t>Experimental setup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4709160"/>
            <a:ext cx="6766560" cy="10515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674352" y="4873752"/>
            <a:ext cx="731520" cy="731520"/>
          </a:xfrm>
          <a:prstGeom prst="ellipse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74352" y="4873752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adika Next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4983480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C4A"/>
                </a:solidFill>
                <a:latin typeface="Radika Next"/>
              </a:rPr>
              <a:t>Results &amp; significance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6035040"/>
            <a:ext cx="6766560" cy="10515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674352" y="6199632"/>
            <a:ext cx="731520" cy="731520"/>
          </a:xfrm>
          <a:prstGeom prst="ellipse">
            <a:avLst/>
          </a:prstGeom>
          <a:solidFill>
            <a:srgbClr val="C7D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74352" y="6199632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adika Next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309360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C4A"/>
                </a:solidFill>
                <a:latin typeface="Radika Next"/>
              </a:rPr>
              <a:t>Honest limitation: Schwefel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7360920"/>
            <a:ext cx="6766560" cy="10515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674352" y="7525512"/>
            <a:ext cx="731520" cy="731520"/>
          </a:xfrm>
          <a:prstGeom prst="ellipse">
            <a:avLst/>
          </a:prstGeom>
          <a:solidFill>
            <a:srgbClr val="ECB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74352" y="7525512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adika Next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7635240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C4A"/>
                </a:solidFill>
                <a:latin typeface="Radika Next"/>
              </a:rPr>
              <a:t>Conclusion &amp; Q&amp;A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011680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0" b="1">
                <a:solidFill>
                  <a:srgbClr val="75BBEE"/>
                </a:solidFill>
                <a:latin typeface="Radika Nex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914400"/>
            <a:ext cx="1371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75BBEE"/>
                </a:solidFill>
                <a:latin typeface="Neue Montre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371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1B2C4A"/>
                </a:solidFill>
                <a:latin typeface="Radika Next"/>
              </a:rPr>
              <a:t>Why we worked on opposition-based PSO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474720"/>
            <a:ext cx="7040880" cy="5303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0" y="3474720"/>
            <a:ext cx="7040880" cy="411480"/>
          </a:xfrm>
          <a:prstGeom prst="rect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0" y="4160520"/>
            <a:ext cx="6126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75BBEE"/>
                </a:solidFill>
                <a:latin typeface="Neue Montreal"/>
              </a:rPr>
              <a:t>TWO FAILURE MODES OF PSO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892040"/>
            <a:ext cx="6126480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Neue Montreal"/>
              </a:rPr>
              <a:t>•  Premature convergence -- swarm collapses
    into a sub-optimal basin
•  Sensitivity to initialization -- pseudo-random
    seeding gives uneven coverage of the
    search 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3474720"/>
            <a:ext cx="7040880" cy="5303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18320" y="3474720"/>
            <a:ext cx="7040880" cy="411480"/>
          </a:xfrm>
          <a:prstGeom prst="rect">
            <a:avLst/>
          </a:prstGeom>
          <a:solidFill>
            <a:srgbClr val="C7D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0" y="4160520"/>
            <a:ext cx="6126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C7D157"/>
                </a:solidFill>
                <a:latin typeface="Neue Montreal"/>
              </a:rPr>
              <a:t>OPPOSITION-BASED LEARNING (Tizhoosh, 2005)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4892040"/>
            <a:ext cx="6126480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Neue Montreal"/>
              </a:rPr>
              <a:t>Whenever you evaluate x,
also evaluate its opposite  x̂ = a + b − x.
One of the two is, on average, closer to
any unknown optimum -- so OBL halves the
expected distance to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8961120"/>
            <a:ext cx="1463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1B2C4A"/>
                </a:solidFill>
                <a:latin typeface="Radika Next"/>
              </a:rPr>
              <a:t>Goal: push OBL deeper into the algorithm and report it honestly.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011680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0" b="1">
                <a:solidFill>
                  <a:srgbClr val="C7D157"/>
                </a:solidFill>
                <a:latin typeface="Radika Next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914400"/>
            <a:ext cx="1371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C7D157"/>
                </a:solidFill>
                <a:latin typeface="Neue Montreal"/>
              </a:rPr>
              <a:t>RELATED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371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1B2C4A"/>
                </a:solidFill>
                <a:latin typeface="Radika Next"/>
              </a:rPr>
              <a:t>Fifteen successor papers in the OBL-PSO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606040"/>
            <a:ext cx="1417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Neue Montreal"/>
              </a:rPr>
              <a:t>We grouped them into four families to keep the comparison readable.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3291840"/>
            <a:ext cx="372618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0" y="3703320"/>
            <a:ext cx="914400" cy="914400"/>
          </a:xfrm>
          <a:prstGeom prst="ellipse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3703320"/>
            <a:ext cx="914400" cy="914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Radika Nex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29946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C4A"/>
                </a:solidFill>
                <a:latin typeface="Radika Next"/>
              </a:rPr>
              <a:t>OBL at initialization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532120"/>
            <a:ext cx="299466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Neue Montreal"/>
              </a:rPr>
              <a:t>O-PSO 2009 (focal),
CSPSO, WE-PSO,
LatinPSO, Sobol-PSO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80660" y="3291840"/>
            <a:ext cx="372618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646420" y="3703320"/>
            <a:ext cx="914400" cy="914400"/>
          </a:xfrm>
          <a:prstGeom prst="ellipse">
            <a:avLst/>
          </a:prstGeom>
          <a:solidFill>
            <a:srgbClr val="C7D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46420" y="3703320"/>
            <a:ext cx="914400" cy="914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Radika Nex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6420" y="4846320"/>
            <a:ext cx="29946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C4A"/>
                </a:solidFill>
                <a:latin typeface="Radika Next"/>
              </a:rPr>
              <a:t>OBL throughout the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46420" y="5532120"/>
            <a:ext cx="299466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Neue Montreal"/>
              </a:rPr>
              <a:t>OPSO-Cauchy 2007,
OVCPSO 2009, GOPSO 2011,
BPSO-OBL 2015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3291840"/>
            <a:ext cx="372618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46920" y="3703320"/>
            <a:ext cx="914400" cy="914400"/>
          </a:xfrm>
          <a:prstGeom prst="ellipse">
            <a:avLst/>
          </a:prstGeom>
          <a:solidFill>
            <a:srgbClr val="ECB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46920" y="3703320"/>
            <a:ext cx="914400" cy="914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Radika Nex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4846320"/>
            <a:ext cx="29946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C4A"/>
                </a:solidFill>
                <a:latin typeface="Radika Next"/>
              </a:rPr>
              <a:t>PSO variants with OBL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5532120"/>
            <a:ext cx="299466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Neue Montreal"/>
              </a:rPr>
              <a:t>OCLPSO, IOBL-PSO,
COPSO, PSO-OBL-NNI,
Mutation-OBL-PSO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81660" y="3291840"/>
            <a:ext cx="372618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3647420" y="3703320"/>
            <a:ext cx="914400" cy="914400"/>
          </a:xfrm>
          <a:prstGeom prst="ellipse">
            <a:avLst/>
          </a:prstGeom>
          <a:solidFill>
            <a:srgbClr val="FF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647420" y="3703320"/>
            <a:ext cx="914400" cy="914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Radika Next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47420" y="4846320"/>
            <a:ext cx="29946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C4A"/>
                </a:solidFill>
                <a:latin typeface="Radika Next"/>
              </a:rPr>
              <a:t>Beyond PSO / applied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647420" y="5532120"/>
            <a:ext cx="299466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Neue Montreal"/>
              </a:rPr>
              <a:t>ODE (DE), SDE-OBL,
AMO-OBL,
Reactive-power dispatch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80160" y="7863840"/>
            <a:ext cx="15727680" cy="1645920"/>
          </a:xfrm>
          <a:prstGeom prst="roundRect">
            <a:avLst>
              <a:gd name="adj" fmla="val 20000"/>
            </a:avLst>
          </a:prstGeom>
          <a:solidFill>
            <a:srgbClr val="1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28800" y="8092440"/>
            <a:ext cx="1463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Neue Montreal"/>
              </a:rPr>
              <a:t>Open problems flagged across these papers: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8641080"/>
            <a:ext cx="1463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adika Next"/>
              </a:rPr>
              <a:t>Fixed Jr  •  Linear opposite only  •  No FE-fair accounting  •  No statistical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011680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0" b="1">
                <a:solidFill>
                  <a:srgbClr val="C7D157"/>
                </a:solidFill>
                <a:latin typeface="Radika Next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914400"/>
            <a:ext cx="1371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C7D157"/>
                </a:solidFill>
                <a:latin typeface="Neue Montreal"/>
              </a:rPr>
              <a:t>THE FOCAL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371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1B2C4A"/>
                </a:solidFill>
                <a:latin typeface="Radika Next"/>
              </a:rPr>
              <a:t>O-PSO — Jabeen, Jalil &amp; Baig, GECCO 2009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606040"/>
            <a:ext cx="1417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Neue Montreal"/>
              </a:rPr>
              <a:t>What it did, and where it stops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3291840"/>
            <a:ext cx="6949440" cy="5943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0" y="3291840"/>
            <a:ext cx="228600" cy="5943600"/>
          </a:xfrm>
          <a:prstGeom prst="rect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3657600"/>
            <a:ext cx="6217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B2C4A"/>
                </a:solidFill>
                <a:latin typeface="Radika Next"/>
              </a:rPr>
              <a:t>What O-PSO does</a:t>
            </a:r>
          </a:p>
        </p:txBody>
      </p:sp>
      <p:sp>
        <p:nvSpPr>
          <p:cNvPr id="10" name="Oval 9"/>
          <p:cNvSpPr/>
          <p:nvPr/>
        </p:nvSpPr>
        <p:spPr>
          <a:xfrm>
            <a:off x="1828800" y="4663440"/>
            <a:ext cx="548640" cy="548640"/>
          </a:xfrm>
          <a:prstGeom prst="ellipse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0" y="4663440"/>
            <a:ext cx="548640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adika Nex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718304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Neue Montreal"/>
              </a:rPr>
              <a:t>Generate N random particles</a:t>
            </a:r>
          </a:p>
        </p:txBody>
      </p:sp>
      <p:sp>
        <p:nvSpPr>
          <p:cNvPr id="13" name="Oval 12"/>
          <p:cNvSpPr/>
          <p:nvPr/>
        </p:nvSpPr>
        <p:spPr>
          <a:xfrm>
            <a:off x="1828800" y="5623560"/>
            <a:ext cx="548640" cy="548640"/>
          </a:xfrm>
          <a:prstGeom prst="ellipse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0" y="5623560"/>
            <a:ext cx="548640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adika Nex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5678424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Neue Montreal"/>
              </a:rPr>
              <a:t>Compute N linear opposites   x̂ = a + b − x</a:t>
            </a:r>
          </a:p>
        </p:txBody>
      </p:sp>
      <p:sp>
        <p:nvSpPr>
          <p:cNvPr id="16" name="Oval 15"/>
          <p:cNvSpPr/>
          <p:nvPr/>
        </p:nvSpPr>
        <p:spPr>
          <a:xfrm>
            <a:off x="1828800" y="6583680"/>
            <a:ext cx="548640" cy="548640"/>
          </a:xfrm>
          <a:prstGeom prst="ellipse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28800" y="65836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adika Nex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6638544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Neue Montreal"/>
              </a:rPr>
              <a:t>Evaluate all 2N candidates; keep the best N</a:t>
            </a:r>
          </a:p>
        </p:txBody>
      </p:sp>
      <p:sp>
        <p:nvSpPr>
          <p:cNvPr id="19" name="Oval 18"/>
          <p:cNvSpPr/>
          <p:nvPr/>
        </p:nvSpPr>
        <p:spPr>
          <a:xfrm>
            <a:off x="1828800" y="7543800"/>
            <a:ext cx="548640" cy="548640"/>
          </a:xfrm>
          <a:prstGeom prst="ellipse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28800" y="7543800"/>
            <a:ext cx="548640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adika Nex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7598664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Neue Montreal"/>
              </a:rPr>
              <a:t>Run standard Clerc-constriction PSO
      until the budget is exhausted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3291840"/>
            <a:ext cx="8412480" cy="5943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595360" y="3291840"/>
            <a:ext cx="228600" cy="5943600"/>
          </a:xfrm>
          <a:prstGeom prst="rect">
            <a:avLst/>
          </a:prstGeom>
          <a:solidFill>
            <a:srgbClr val="FF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365760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B2C4A"/>
                </a:solidFill>
                <a:latin typeface="Radika Next"/>
              </a:rPr>
              <a:t>Limitations we will address</a:t>
            </a:r>
          </a:p>
        </p:txBody>
      </p:sp>
      <p:sp>
        <p:nvSpPr>
          <p:cNvPr id="25" name="Oval 24"/>
          <p:cNvSpPr/>
          <p:nvPr/>
        </p:nvSpPr>
        <p:spPr>
          <a:xfrm>
            <a:off x="9235440" y="4800600"/>
            <a:ext cx="274320" cy="274320"/>
          </a:xfrm>
          <a:prstGeom prst="ellipse">
            <a:avLst/>
          </a:prstGeom>
          <a:solidFill>
            <a:srgbClr val="FF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92640" y="4736592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Neue Montreal"/>
              </a:rPr>
              <a:t>Pseudo-random seed -- no guaranteed space coverage</a:t>
            </a:r>
          </a:p>
        </p:txBody>
      </p:sp>
      <p:sp>
        <p:nvSpPr>
          <p:cNvPr id="27" name="Oval 26"/>
          <p:cNvSpPr/>
          <p:nvPr/>
        </p:nvSpPr>
        <p:spPr>
          <a:xfrm>
            <a:off x="9235440" y="5760720"/>
            <a:ext cx="274320" cy="274320"/>
          </a:xfrm>
          <a:prstGeom prst="ellipse">
            <a:avLst/>
          </a:prstGeom>
          <a:solidFill>
            <a:srgbClr val="FF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0" y="5696712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Neue Montreal"/>
              </a:rPr>
              <a:t>Linear opposite only -- geometrically rigid</a:t>
            </a:r>
          </a:p>
        </p:txBody>
      </p:sp>
      <p:sp>
        <p:nvSpPr>
          <p:cNvPr id="29" name="Oval 28"/>
          <p:cNvSpPr/>
          <p:nvPr/>
        </p:nvSpPr>
        <p:spPr>
          <a:xfrm>
            <a:off x="9235440" y="6720840"/>
            <a:ext cx="274320" cy="274320"/>
          </a:xfrm>
          <a:prstGeom prst="ellipse">
            <a:avLst/>
          </a:prstGeom>
          <a:solidFill>
            <a:srgbClr val="FF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92640" y="6656832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Neue Montreal"/>
              </a:rPr>
              <a:t>No OBL after generation 0 -- most of the search runs blind</a:t>
            </a:r>
          </a:p>
        </p:txBody>
      </p:sp>
      <p:sp>
        <p:nvSpPr>
          <p:cNvPr id="31" name="Oval 30"/>
          <p:cNvSpPr/>
          <p:nvPr/>
        </p:nvSpPr>
        <p:spPr>
          <a:xfrm>
            <a:off x="9235440" y="7680960"/>
            <a:ext cx="274320" cy="274320"/>
          </a:xfrm>
          <a:prstGeom prst="ellipse">
            <a:avLst/>
          </a:prstGeom>
          <a:solidFill>
            <a:srgbClr val="FF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92640" y="7616952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Neue Montreal"/>
              </a:rPr>
              <a:t>No Wilcoxon, no FE-budget reporting -- claims hard to verify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011680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0" b="1">
                <a:solidFill>
                  <a:srgbClr val="ECBEFC"/>
                </a:solidFill>
                <a:latin typeface="Radika Next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914400"/>
            <a:ext cx="1371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CBEFC"/>
                </a:solidFill>
                <a:latin typeface="Neue Montreal"/>
              </a:rPr>
              <a:t>OUR VALUE ADDITIONS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371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1B2C4A"/>
                </a:solidFill>
                <a:latin typeface="Radika Next"/>
              </a:rPr>
              <a:t>Seven enhancements, one novel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606040"/>
            <a:ext cx="1417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Neue Montreal"/>
              </a:rPr>
              <a:t>Six borrowed from the literature, one new -- the adaptive jumping 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3474720"/>
            <a:ext cx="3566160" cy="2468880"/>
          </a:xfrm>
          <a:prstGeom prst="roundRect">
            <a:avLst>
              <a:gd name="adj" fmla="val 8000"/>
            </a:avLst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673352" y="3547872"/>
            <a:ext cx="3419856" cy="23225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374904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75BBEE"/>
                </a:solidFill>
                <a:latin typeface="Neue Montreal"/>
              </a:rPr>
              <a:t>VA-1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434340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B2C4A"/>
                </a:solidFill>
                <a:latin typeface="Radika Next"/>
              </a:rPr>
              <a:t>Chaotic init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521208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  <a:latin typeface="Neue Montreal"/>
              </a:rPr>
              <a:t>logistic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3474720"/>
            <a:ext cx="3566160" cy="2468880"/>
          </a:xfrm>
          <a:prstGeom prst="roundRect">
            <a:avLst>
              <a:gd name="adj" fmla="val 8000"/>
            </a:avLst>
          </a:prstGeom>
          <a:solidFill>
            <a:srgbClr val="C7D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513832" y="3547872"/>
            <a:ext cx="3419856" cy="23225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06440" y="374904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C7D157"/>
                </a:solidFill>
                <a:latin typeface="Neue Montreal"/>
              </a:rPr>
              <a:t>VA-2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434340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B2C4A"/>
                </a:solidFill>
                <a:latin typeface="Radika Next"/>
              </a:rPr>
              <a:t>Generalized OBL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521208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  <a:latin typeface="Neue Montreal"/>
              </a:rPr>
              <a:t>GOBL formula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3474720"/>
            <a:ext cx="3566160" cy="2468880"/>
          </a:xfrm>
          <a:prstGeom prst="roundRect">
            <a:avLst>
              <a:gd name="adj" fmla="val 8000"/>
            </a:avLst>
          </a:prstGeom>
          <a:solidFill>
            <a:srgbClr val="ECB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354312" y="3547872"/>
            <a:ext cx="3419856" cy="23225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46920" y="374904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ECBEFC"/>
                </a:solidFill>
                <a:latin typeface="Neue Montreal"/>
              </a:rPr>
              <a:t>VA-3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434340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B2C4A"/>
                </a:solidFill>
                <a:latin typeface="Radika Next"/>
              </a:rPr>
              <a:t>Generation jumping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521208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  <a:latin typeface="Neue Montreal"/>
              </a:rPr>
              <a:t>every iteration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121640" y="3474720"/>
            <a:ext cx="3566160" cy="2468880"/>
          </a:xfrm>
          <a:prstGeom prst="roundRect">
            <a:avLst>
              <a:gd name="adj" fmla="val 8000"/>
            </a:avLst>
          </a:prstGeom>
          <a:solidFill>
            <a:srgbClr val="FF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487400" y="374904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eue Montreal"/>
              </a:rPr>
              <a:t>VA-4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87400" y="434340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Radika Next"/>
              </a:rPr>
              <a:t>Adaptive Jr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521208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Neue Montreal"/>
              </a:rPr>
              <a:t>★ NOVEL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6309360"/>
            <a:ext cx="3566160" cy="2468880"/>
          </a:xfrm>
          <a:prstGeom prst="roundRect">
            <a:avLst>
              <a:gd name="adj" fmla="val 8000"/>
            </a:avLst>
          </a:prstGeom>
          <a:solidFill>
            <a:srgbClr val="C6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593592" y="6382512"/>
            <a:ext cx="3419856" cy="23225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86200" y="658368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C6EFFD"/>
                </a:solidFill>
                <a:latin typeface="Neue Montreal"/>
              </a:rPr>
              <a:t>VA-5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71780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B2C4A"/>
                </a:solidFill>
                <a:latin typeface="Radika Next"/>
              </a:rPr>
              <a:t>pbest opposition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80467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  <a:latin typeface="Neue Montreal"/>
              </a:rPr>
              <a:t>on stagnation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60920" y="6309360"/>
            <a:ext cx="3566160" cy="2468880"/>
          </a:xfrm>
          <a:prstGeom prst="roundRect">
            <a:avLst>
              <a:gd name="adj" fmla="val 8000"/>
            </a:avLst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434072" y="6382512"/>
            <a:ext cx="3419856" cy="23225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26680" y="658368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75BBEE"/>
                </a:solidFill>
                <a:latin typeface="Neue Montreal"/>
              </a:rPr>
              <a:t>VA-6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71780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B2C4A"/>
                </a:solidFill>
                <a:latin typeface="Radika Next"/>
              </a:rPr>
              <a:t>Rebel repulsion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80" y="80467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  <a:latin typeface="Neue Montreal"/>
              </a:rPr>
              <a:t>away from worst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01400" y="6309360"/>
            <a:ext cx="3566160" cy="2468880"/>
          </a:xfrm>
          <a:prstGeom prst="roundRect">
            <a:avLst>
              <a:gd name="adj" fmla="val 8000"/>
            </a:avLst>
          </a:prstGeom>
          <a:solidFill>
            <a:srgbClr val="C7D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1274552" y="6382512"/>
            <a:ext cx="3419856" cy="23225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567160" y="658368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C7D157"/>
                </a:solidFill>
                <a:latin typeface="Neue Montreal"/>
              </a:rPr>
              <a:t>VA-7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67160" y="71780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B2C4A"/>
                </a:solidFill>
                <a:latin typeface="Radika Next"/>
              </a:rPr>
              <a:t>FE + Wilcoxon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67160" y="80467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  <a:latin typeface="Neue Montreal"/>
              </a:rPr>
              <a:t>honest 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011680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0" b="1">
                <a:solidFill>
                  <a:srgbClr val="75BBEE"/>
                </a:solidFill>
                <a:latin typeface="Radika Next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914400"/>
            <a:ext cx="1371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75BBEE"/>
                </a:solidFill>
                <a:latin typeface="Neue Montreal"/>
              </a:rPr>
              <a:t>VA-1 + VA-2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371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1B2C4A"/>
                </a:solidFill>
                <a:latin typeface="Radika Next"/>
              </a:rPr>
              <a:t>Better starting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606040"/>
            <a:ext cx="1417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Neue Montreal"/>
              </a:rPr>
              <a:t>Replace the random seed and the linear opposite at generation zero.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291840"/>
            <a:ext cx="7040880" cy="5760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0" y="3291840"/>
            <a:ext cx="7040880" cy="411480"/>
          </a:xfrm>
          <a:prstGeom prst="rect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0" y="3977640"/>
            <a:ext cx="6126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75BBEE"/>
                </a:solidFill>
                <a:latin typeface="Neue Montreal"/>
              </a:rPr>
              <a:t>VA-1   ·   Chaotic logistic-map init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709160"/>
            <a:ext cx="61264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Neue Montreal"/>
              </a:rPr>
              <a:t>x_{n+1} = μ · x_n · (1 − x_n),  μ = 4
One independent chaotic stream per
dimension. Ergodic distribution covers
the unit interval more uniformly than the
Mersenne Twister at small sample sizes.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3291840"/>
            <a:ext cx="7040880" cy="5760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418320" y="3291840"/>
            <a:ext cx="7040880" cy="411480"/>
          </a:xfrm>
          <a:prstGeom prst="rect">
            <a:avLst/>
          </a:prstGeom>
          <a:solidFill>
            <a:srgbClr val="C7D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0" y="3977640"/>
            <a:ext cx="6126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C7D157"/>
                </a:solidFill>
                <a:latin typeface="Neue Montreal"/>
              </a:rPr>
              <a:t>VA-2   ·   Generalized Opposite (GOBL)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4709160"/>
            <a:ext cx="61264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Neue Montreal"/>
              </a:rPr>
              <a:t>x̂_j  =  a_j + b_j − β · x_j − (1 − β) · x̄_j
β ~ U(0,1) per particle; x̄ is the
per-dimension swarm mean. The mean-aware
term breaks box symmetry, so opposites
are no longer simple reflections.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9326880"/>
            <a:ext cx="1463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1">
                <a:solidFill>
                  <a:srgbClr val="C7D157"/>
                </a:solidFill>
                <a:latin typeface="Neue Montreal"/>
              </a:rPr>
              <a:t>Cost stays at 2N initial evaluations -- exactly the same budget as O-PSO.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011680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0" b="1">
                <a:solidFill>
                  <a:srgbClr val="75BBEE"/>
                </a:solidFill>
                <a:latin typeface="Radika Next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914400"/>
            <a:ext cx="1371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75BBEE"/>
                </a:solidFill>
                <a:latin typeface="Neue Montreal"/>
              </a:rPr>
              <a:t>VA-3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371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1B2C4A"/>
                </a:solidFill>
                <a:latin typeface="Radika Next"/>
              </a:rPr>
              <a:t>Generation jumping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606040"/>
            <a:ext cx="1417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Neue Montreal"/>
              </a:rPr>
              <a:t>Apply OBL throughout the search, not just at initialisation.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383280"/>
            <a:ext cx="8686800" cy="64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 i="0">
                <a:solidFill>
                  <a:srgbClr val="1B2C4A"/>
                </a:solidFill>
                <a:latin typeface="Radika Next"/>
              </a:rPr>
              <a:t>In O-PSO, OBL fires only once -- at generation 0.</a:t>
            </a:r>
          </a:p>
          <a:p>
            <a:pPr algn="l">
              <a:spcAft>
                <a:spcPts val="2400"/>
              </a:spcAft>
            </a:pPr>
            <a:r>
              <a:rPr sz="1900" b="0" i="1">
                <a:solidFill>
                  <a:srgbClr val="555555"/>
                </a:solidFill>
                <a:latin typeface="Neue Montreal"/>
              </a:rPr>
              <a:t>After that the swarm has only random init to thank for any diversity.</a:t>
            </a:r>
          </a:p>
          <a:p>
            <a:pPr algn="l">
              <a:spcAft>
                <a:spcPts val="1200"/>
              </a:spcAft>
            </a:pPr>
            <a:r>
              <a:rPr sz="2200" b="1" i="0">
                <a:solidFill>
                  <a:srgbClr val="75BBEE"/>
                </a:solidFill>
                <a:latin typeface="Radika Next"/>
              </a:rPr>
              <a:t>Generation jumping fixes this: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Neue Montreal"/>
              </a:rPr>
              <a:t>With probability Jr at every generation,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Neue Montreal"/>
              </a:rPr>
              <a:t>    1.  compute  X̂ = GOBL(X)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Neue Montreal"/>
              </a:rPr>
              <a:t>    2.  evaluate all N opposites</a:t>
            </a:r>
          </a:p>
          <a:p>
            <a:pPr algn="l">
              <a:spcAft>
                <a:spcPts val="2400"/>
              </a:spcAft>
            </a:pPr>
            <a:r>
              <a:rPr sz="1900" b="0" i="0">
                <a:solidFill>
                  <a:srgbClr val="1A1A1A"/>
                </a:solidFill>
                <a:latin typeface="Neue Montreal"/>
              </a:rPr>
              <a:t>    3.  replace x_i with x̂_i wherever f(x̂_i) &lt; f(x_i).</a:t>
            </a:r>
          </a:p>
          <a:p>
            <a:pPr algn="l">
              <a:spcAft>
                <a:spcPts val="2400"/>
              </a:spcAft>
            </a:pPr>
            <a:r>
              <a:rPr sz="1800" b="0" i="1">
                <a:solidFill>
                  <a:srgbClr val="555555"/>
                </a:solidFill>
                <a:latin typeface="Neue Montreal"/>
              </a:rPr>
              <a:t>Cost:  +N FEs each time the jump fires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B07A"/>
                </a:solidFill>
                <a:latin typeface="Radika Next"/>
              </a:rPr>
              <a:t>Open problem in the literature:  Jr is always picked by hand.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B07A"/>
                </a:solidFill>
                <a:latin typeface="Radika Next"/>
              </a:rPr>
              <a:t>We fix that next  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0" y="3383280"/>
            <a:ext cx="5943600" cy="6217920"/>
          </a:xfrm>
          <a:prstGeom prst="roundRect">
            <a:avLst>
              <a:gd name="adj" fmla="val 5000"/>
            </a:avLst>
          </a:prstGeom>
          <a:solidFill>
            <a:srgbClr val="ECB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95760" y="3749039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2C4A"/>
                </a:solidFill>
                <a:latin typeface="Neue Montreal"/>
              </a:rPr>
              <a:t>Probability of jump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0" y="448056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0" b="1" i="0">
                <a:solidFill>
                  <a:srgbClr val="1B2C4A"/>
                </a:solidFill>
                <a:latin typeface="Radika Next"/>
              </a:rPr>
              <a:t>Jr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0" y="6949440"/>
            <a:ext cx="54864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555555"/>
                </a:solidFill>
                <a:latin typeface="Neue Montreal"/>
              </a:rPr>
              <a:t>Same value every generation.
Sometimes too low,
sometimes wasteful.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011680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0" b="1">
                <a:solidFill>
                  <a:srgbClr val="FFB07A"/>
                </a:solidFill>
                <a:latin typeface="Radika Next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914400"/>
            <a:ext cx="1371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B07A"/>
                </a:solidFill>
                <a:latin typeface="Neue Montreal"/>
              </a:rPr>
              <a:t>VA-4   ★   NOVEL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371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1B2C4A"/>
                </a:solidFill>
                <a:latin typeface="Radika Next"/>
              </a:rPr>
              <a:t>Adaptive jumping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606040"/>
            <a:ext cx="1417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Neue Montreal"/>
              </a:rPr>
              <a:t>Tie Jr to a live measurement of swarm diversity.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3291840"/>
            <a:ext cx="15727680" cy="2926080"/>
          </a:xfrm>
          <a:prstGeom prst="roundRect">
            <a:avLst>
              <a:gd name="adj" fmla="val 12000"/>
            </a:avLst>
          </a:prstGeom>
          <a:solidFill>
            <a:srgbClr val="FF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3474720"/>
            <a:ext cx="1572768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Radika Next"/>
              </a:rPr>
              <a:t>Jr(t)  =  Jr,max  ·  ( 1 − e^(−λ · σ_t)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120640"/>
            <a:ext cx="15727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Neue Montreal"/>
              </a:rPr>
              <a:t>σ_t  =  swarm diameter  =  mean over dimensions of  std(x) / box width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6766560"/>
            <a:ext cx="4998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37360" y="7223760"/>
            <a:ext cx="1097280" cy="1097280"/>
          </a:xfrm>
          <a:prstGeom prst="ellipse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37360" y="7223760"/>
            <a:ext cx="109728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Radika Nex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8595360"/>
            <a:ext cx="4084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2C4A"/>
                </a:solidFill>
                <a:latin typeface="Radika Next"/>
              </a:rPr>
              <a:t>Swarm spread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8986540"/>
            <a:ext cx="408432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 dirty="0" err="1">
                <a:solidFill>
                  <a:srgbClr val="555555"/>
                </a:solidFill>
                <a:latin typeface="Neue Montreal"/>
              </a:rPr>
              <a:t>σ_t</a:t>
            </a:r>
            <a:r>
              <a:rPr sz="1700" b="0" i="0" dirty="0">
                <a:solidFill>
                  <a:srgbClr val="555555"/>
                </a:solidFill>
                <a:latin typeface="Neue Montreal"/>
              </a:rPr>
              <a:t> is large  →  Jr(t) climbs </a:t>
            </a:r>
            <a:r>
              <a:rPr sz="1700" b="0" i="0" baseline="-25000" dirty="0">
                <a:solidFill>
                  <a:srgbClr val="555555"/>
                </a:solidFill>
                <a:latin typeface="Neue Montreal"/>
              </a:rPr>
              <a:t>toward</a:t>
            </a:r>
            <a:r>
              <a:rPr sz="1700" b="0" i="0" dirty="0">
                <a:solidFill>
                  <a:srgbClr val="555555"/>
                </a:solidFill>
                <a:latin typeface="Neue Montreal"/>
              </a:rPr>
              <a:t> </a:t>
            </a:r>
            <a:r>
              <a:rPr sz="1700" b="0" i="0" dirty="0" err="1">
                <a:solidFill>
                  <a:srgbClr val="555555"/>
                </a:solidFill>
                <a:latin typeface="Neue Montreal"/>
              </a:rPr>
              <a:t>Jr,max</a:t>
            </a:r>
            <a:r>
              <a:rPr sz="1700" b="0" i="0" dirty="0">
                <a:solidFill>
                  <a:srgbClr val="555555"/>
                </a:solidFill>
                <a:latin typeface="Neue Montreal"/>
              </a:rPr>
              <a:t>
We jump aggressively to keep exploring.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36080" y="6766560"/>
            <a:ext cx="4998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101840" y="7223760"/>
            <a:ext cx="1097280" cy="1097280"/>
          </a:xfrm>
          <a:prstGeom prst="ellipse">
            <a:avLst/>
          </a:prstGeom>
          <a:solidFill>
            <a:srgbClr val="C7D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01840" y="7223760"/>
            <a:ext cx="109728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Radika Next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1840" y="8595360"/>
            <a:ext cx="4084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2C4A"/>
                </a:solidFill>
                <a:latin typeface="Radika Next"/>
              </a:rPr>
              <a:t>Swarm converging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8554" y="9101546"/>
            <a:ext cx="4084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 dirty="0" err="1">
                <a:solidFill>
                  <a:srgbClr val="555555"/>
                </a:solidFill>
                <a:latin typeface="Neue Montreal"/>
              </a:rPr>
              <a:t>σ_t</a:t>
            </a:r>
            <a:r>
              <a:rPr sz="1700" b="0" i="0" dirty="0">
                <a:solidFill>
                  <a:srgbClr val="555555"/>
                </a:solidFill>
                <a:latin typeface="Neue Montreal"/>
              </a:rPr>
              <a:t> shrinks  →  Jr(t) decays toward zero
We stop spending FEs on OBL when it stops helping.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009120" y="6766560"/>
            <a:ext cx="4998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2466320" y="7223760"/>
            <a:ext cx="1097280" cy="1097280"/>
          </a:xfrm>
          <a:prstGeom prst="ellipse">
            <a:avLst/>
          </a:prstGeom>
          <a:solidFill>
            <a:srgbClr val="ECB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466320" y="7223760"/>
            <a:ext cx="109728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Radika Next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66320" y="8595360"/>
            <a:ext cx="4084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2C4A"/>
                </a:solidFill>
                <a:latin typeface="Radika Next"/>
              </a:rPr>
              <a:t>Why it is new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17483" y="9072154"/>
            <a:ext cx="4084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 dirty="0">
                <a:solidFill>
                  <a:srgbClr val="555555"/>
                </a:solidFill>
                <a:latin typeface="Neue Montreal"/>
              </a:rPr>
              <a:t>No reviewed paper in the OBL-PSO line
ties Jr to a closed-form measurement of live
swarm state.  This is our novel contribution.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011680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0" b="1">
                <a:solidFill>
                  <a:srgbClr val="75BBEE"/>
                </a:solidFill>
                <a:latin typeface="Radika Next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914400"/>
            <a:ext cx="1371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75BBEE"/>
                </a:solidFill>
                <a:latin typeface="Neue Montreal"/>
              </a:rPr>
              <a:t>VA-5 + VA-6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371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1B2C4A"/>
                </a:solidFill>
                <a:latin typeface="Radika Next"/>
              </a:rPr>
              <a:t>Memory and repulsion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606040"/>
            <a:ext cx="1417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Neue Montreal"/>
              </a:rPr>
              <a:t>Fix premature commitment at its root.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291840"/>
            <a:ext cx="7040880" cy="6035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0" y="3291840"/>
            <a:ext cx="7040880" cy="411480"/>
          </a:xfrm>
          <a:prstGeom prst="rect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0" y="3977640"/>
            <a:ext cx="6126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75BBEE"/>
                </a:solidFill>
                <a:latin typeface="Neue Montreal"/>
              </a:rPr>
              <a:t>VA-5   ·   pbest opposition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709160"/>
            <a:ext cx="612648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Neue Montreal"/>
              </a:rPr>
              <a:t>Each particle keeps a stagnation counter s_i.
When s_i ≥ t_stag = 5,
    p̂_i = GOBL(p_i)
Replace p_i with p̂_i if it is better.
Attacks the root cause of premature
convergence — a corrupted personal-best
archive — rather than its symptoms.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3291840"/>
            <a:ext cx="7040880" cy="6035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418320" y="3291840"/>
            <a:ext cx="7040880" cy="411480"/>
          </a:xfrm>
          <a:prstGeom prst="rect">
            <a:avLst/>
          </a:prstGeom>
          <a:solidFill>
            <a:srgbClr val="C7D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0" y="3977640"/>
            <a:ext cx="6126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C7D157"/>
                </a:solidFill>
                <a:latin typeface="Neue Montreal"/>
              </a:rPr>
              <a:t>VA-6   ·   Rebel repulsion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4709160"/>
            <a:ext cx="612648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Neue Montreal"/>
              </a:rPr>
              <a:t>Velocity update gains a repulsion term:
    v_i ← χ [ … −α (p_worst − x_i) ]
α = 0.05 (small but consistent).
Particles are pushed AWAY from the swarm's
currently worst pbest.
Prevents the swarm from locking onto poor
candidate basins.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011680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0" b="1">
                <a:solidFill>
                  <a:srgbClr val="C7D157"/>
                </a:solidFill>
                <a:latin typeface="Radika Next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914400"/>
            <a:ext cx="1371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C7D157"/>
                </a:solidFill>
                <a:latin typeface="Neue Montreal"/>
              </a:rPr>
              <a:t>VA-7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371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1B2C4A"/>
                </a:solidFill>
                <a:latin typeface="Radika Next"/>
              </a:rPr>
              <a:t>Honest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606040"/>
            <a:ext cx="1417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Neue Montreal"/>
              </a:rPr>
              <a:t>Function evaluations and statistical significance.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3291840"/>
            <a:ext cx="4998720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37360" y="3749040"/>
            <a:ext cx="1097280" cy="1097280"/>
          </a:xfrm>
          <a:prstGeom prst="ellipse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37360" y="3749040"/>
            <a:ext cx="109728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Radika Nex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120640"/>
            <a:ext cx="4084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2C4A"/>
                </a:solidFill>
                <a:latin typeface="Radika Next"/>
              </a:rPr>
              <a:t>Function evaluations (FEs)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897880"/>
            <a:ext cx="40843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Neue Montreal"/>
              </a:rPr>
              <a:t>Every OBL step charges an extra evaluation
per particle. Reported in FEs, not
iterations, so the cost is honest.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44640" y="3291840"/>
            <a:ext cx="4998720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101840" y="3749040"/>
            <a:ext cx="1097280" cy="1097280"/>
          </a:xfrm>
          <a:prstGeom prst="ellipse">
            <a:avLst/>
          </a:prstGeom>
          <a:solidFill>
            <a:srgbClr val="C7D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01840" y="3749040"/>
            <a:ext cx="109728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Radika Nex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1840" y="5120640"/>
            <a:ext cx="4084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2C4A"/>
                </a:solidFill>
                <a:latin typeface="Radika Next"/>
              </a:rPr>
              <a:t>30 independent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840" y="5897880"/>
            <a:ext cx="40843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Neue Montreal"/>
              </a:rPr>
              <a:t>Per (algorithm × benchmark × dim) cell.
Seeds are fixed for exact reproducibility.
Total: 1080 individual optimization runs.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09120" y="3291840"/>
            <a:ext cx="4998720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2466320" y="3749040"/>
            <a:ext cx="1097280" cy="1097280"/>
          </a:xfrm>
          <a:prstGeom prst="ellipse">
            <a:avLst/>
          </a:prstGeom>
          <a:solidFill>
            <a:srgbClr val="ECB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466320" y="3749040"/>
            <a:ext cx="109728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Radika Nex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66320" y="5120640"/>
            <a:ext cx="4084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2C4A"/>
                </a:solidFill>
                <a:latin typeface="Radika Next"/>
              </a:rPr>
              <a:t>Wilcoxon signed-rank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66320" y="5897880"/>
            <a:ext cx="40843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Neue Montreal"/>
              </a:rPr>
              <a:t>One-sided alternative
    AO-PSO &lt; baseline.
Reject H₀ at p &lt; 0.05  →  significant win.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011680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0" b="1">
                <a:solidFill>
                  <a:srgbClr val="FFB07A"/>
                </a:solidFill>
                <a:latin typeface="Radika Next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914400"/>
            <a:ext cx="1371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B07A"/>
                </a:solidFill>
                <a:latin typeface="Neue Montreal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371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1B2C4A"/>
                </a:solidFill>
                <a:latin typeface="Radika Next"/>
              </a:rPr>
              <a:t>Where the seven enhancements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606040"/>
            <a:ext cx="1417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Neue Montreal"/>
              </a:rPr>
              <a:t>Stage 1 acts once; Stage 2 fires every generation; VA-7 wraps the experiment.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395" y="3200400"/>
            <a:ext cx="14993210" cy="65379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011680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0" b="1">
                <a:solidFill>
                  <a:srgbClr val="FFB07A"/>
                </a:solidFill>
                <a:latin typeface="Radika Next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914400"/>
            <a:ext cx="1371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B07A"/>
                </a:solidFill>
                <a:latin typeface="Neue Montreal"/>
              </a:rPr>
              <a:t>PER-GENERATION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371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1B2C4A"/>
                </a:solidFill>
                <a:latin typeface="Radika Next"/>
              </a:rPr>
              <a:t>How AO-PSO steps through one iteration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606040"/>
            <a:ext cx="1417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Neue Montreal"/>
              </a:rPr>
              <a:t>Diamonds are decisions; rounded rectangles are processes.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517" y="3108960"/>
            <a:ext cx="3956858" cy="6766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3840480"/>
            <a:ext cx="7772400" cy="548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800" b="1" i="0">
                <a:solidFill>
                  <a:srgbClr val="1B2C4A"/>
                </a:solidFill>
                <a:latin typeface="Radika Next"/>
              </a:rPr>
              <a:t>Reading the flowchart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A1A1A"/>
                </a:solidFill>
                <a:latin typeface="Neue Montreal"/>
              </a:rPr>
              <a:t>If U(0,1) &lt; Jr(t)   →   generation jump (VA-3)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A1A1A"/>
                </a:solidFill>
                <a:latin typeface="Neue Montreal"/>
              </a:rPr>
              <a:t>Any particle with s_i ≥ t_stag   →   pbest opposition (VA-5)</a:t>
            </a:r>
          </a:p>
          <a:p>
            <a:pPr algn="l">
              <a:spcAft>
                <a:spcPts val="2400"/>
              </a:spcAft>
            </a:pPr>
            <a:r>
              <a:rPr sz="1900" b="0" i="0">
                <a:solidFill>
                  <a:srgbClr val="1A1A1A"/>
                </a:solidFill>
                <a:latin typeface="Neue Montreal"/>
              </a:rPr>
              <a:t>FE budget not exhausted   →   back to velocity update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C7D157"/>
                </a:solidFill>
                <a:latin typeface="Radika Next"/>
              </a:rPr>
              <a:t>No arrow crosses any node.</a:t>
            </a:r>
          </a:p>
          <a:p>
            <a:pPr algn="l">
              <a:spcAft>
                <a:spcPts val="600"/>
              </a:spcAft>
            </a:pPr>
            <a:r>
              <a:rPr sz="1700" b="0" i="1">
                <a:solidFill>
                  <a:srgbClr val="555555"/>
                </a:solidFill>
                <a:latin typeface="Neue Montreal"/>
              </a:rPr>
              <a:t>Strictly vertical flow keeps the figure publication-clean.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011680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0" b="1">
                <a:solidFill>
                  <a:srgbClr val="C6EFFD"/>
                </a:solidFill>
                <a:latin typeface="Radika Next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914400"/>
            <a:ext cx="1371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C6EFFD"/>
                </a:solidFill>
                <a:latin typeface="Neue Montreal"/>
              </a:rPr>
              <a:t>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371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1B2C4A"/>
                </a:solidFill>
                <a:latin typeface="Radika Next"/>
              </a:rPr>
              <a:t>What we ran, on what, and how many times</a:t>
            </a:r>
          </a:p>
        </p:txBody>
      </p:sp>
      <p:sp>
        <p:nvSpPr>
          <p:cNvPr id="6" name="Oval 5"/>
          <p:cNvSpPr/>
          <p:nvPr/>
        </p:nvSpPr>
        <p:spPr>
          <a:xfrm>
            <a:off x="1645920" y="3474720"/>
            <a:ext cx="2194560" cy="2194560"/>
          </a:xfrm>
          <a:prstGeom prst="ellipse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Radika Nex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2C4A"/>
                </a:solidFill>
                <a:latin typeface="Radika Next"/>
              </a:rPr>
              <a:t>Algorithms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62179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  <a:latin typeface="Neue Montreal"/>
              </a:rPr>
              <a:t>PSO, O-PSO, AO-PSO</a:t>
            </a:r>
          </a:p>
        </p:txBody>
      </p:sp>
      <p:sp>
        <p:nvSpPr>
          <p:cNvPr id="10" name="Oval 9"/>
          <p:cNvSpPr/>
          <p:nvPr/>
        </p:nvSpPr>
        <p:spPr>
          <a:xfrm>
            <a:off x="4846320" y="3474720"/>
            <a:ext cx="2194560" cy="2194560"/>
          </a:xfrm>
          <a:prstGeom prst="ellipse">
            <a:avLst/>
          </a:prstGeom>
          <a:solidFill>
            <a:srgbClr val="C7D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384048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Radika Next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2C4A"/>
                </a:solidFill>
                <a:latin typeface="Radika Next"/>
              </a:rPr>
              <a:t>Benchmarks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2179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  <a:latin typeface="Neue Montreal"/>
              </a:rPr>
              <a:t>Sphere → Schwefel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0" y="3474720"/>
            <a:ext cx="2194560" cy="2194560"/>
          </a:xfrm>
          <a:prstGeom prst="ellipse">
            <a:avLst/>
          </a:prstGeom>
          <a:solidFill>
            <a:srgbClr val="ECB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0" y="384048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Radika Nex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2C4A"/>
                </a:solidFill>
                <a:latin typeface="Radika Next"/>
              </a:rPr>
              <a:t>Dimensions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62179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  <a:latin typeface="Neue Montreal"/>
              </a:rPr>
              <a:t>D = 10 and D = 30</a:t>
            </a:r>
          </a:p>
        </p:txBody>
      </p:sp>
      <p:sp>
        <p:nvSpPr>
          <p:cNvPr id="18" name="Oval 17"/>
          <p:cNvSpPr/>
          <p:nvPr/>
        </p:nvSpPr>
        <p:spPr>
          <a:xfrm>
            <a:off x="11247120" y="3474720"/>
            <a:ext cx="2194560" cy="2194560"/>
          </a:xfrm>
          <a:prstGeom prst="ellipse">
            <a:avLst/>
          </a:prstGeom>
          <a:solidFill>
            <a:srgbClr val="FF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0" y="384048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Radika Next"/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2C4A"/>
                </a:solidFill>
                <a:latin typeface="Radika Next"/>
              </a:rPr>
              <a:t>Seeds each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2179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  <a:latin typeface="Neue Montreal"/>
              </a:rPr>
              <a:t>independent runs</a:t>
            </a:r>
          </a:p>
        </p:txBody>
      </p:sp>
      <p:sp>
        <p:nvSpPr>
          <p:cNvPr id="22" name="Oval 21"/>
          <p:cNvSpPr/>
          <p:nvPr/>
        </p:nvSpPr>
        <p:spPr>
          <a:xfrm>
            <a:off x="14447520" y="3474720"/>
            <a:ext cx="2194560" cy="2194560"/>
          </a:xfrm>
          <a:prstGeom prst="ellipse">
            <a:avLst/>
          </a:prstGeom>
          <a:solidFill>
            <a:srgbClr val="C6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081760" y="384048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Radika Next"/>
              </a:rPr>
              <a:t>1080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2C4A"/>
                </a:solidFill>
                <a:latin typeface="Radika Next"/>
              </a:rPr>
              <a:t>Total runs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0" y="62179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  <a:latin typeface="Neue Montreal"/>
              </a:rPr>
              <a:t>fully reproducible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7040880"/>
            <a:ext cx="1572768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280160" y="7040880"/>
            <a:ext cx="228600" cy="2743200"/>
          </a:xfrm>
          <a:prstGeom prst="rect">
            <a:avLst/>
          </a:prstGeom>
          <a:solidFill>
            <a:srgbClr val="1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737360" y="7223760"/>
            <a:ext cx="1554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2C4A"/>
                </a:solidFill>
                <a:latin typeface="Radika Next"/>
              </a:rPr>
              <a:t>Protocol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7863840"/>
            <a:ext cx="148132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A1A1A"/>
                </a:solidFill>
                <a:latin typeface="Neue Montreal"/>
              </a:rPr>
              <a:t>•  N = 20    c1 = c2 = 2.05    χ ≈ 0.7298    v_max = 0.5 (b−a)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A1A1A"/>
                </a:solidFill>
                <a:latin typeface="Neue Montreal"/>
              </a:rPr>
              <a:t>•  FE budget   20 000  at  D = 10        60 000  at  D = 30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A1A1A"/>
                </a:solidFill>
                <a:latin typeface="Neue Montreal"/>
              </a:rPr>
              <a:t>•  AO-PSO extras:  Jr,max = 0.30    λ = 25    t_stag = 5    α = 0.05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A1A1A"/>
                </a:solidFill>
                <a:latin typeface="Neue Montreal"/>
              </a:rPr>
              <a:t>•  Significance: one-sided Wilcoxon signed-rank, α = 0.05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011680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0" b="1">
                <a:solidFill>
                  <a:srgbClr val="75BBEE"/>
                </a:solidFill>
                <a:latin typeface="Radika Next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914400"/>
            <a:ext cx="1371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75BBEE"/>
                </a:solidFill>
                <a:latin typeface="Neue Montreal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371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1B2C4A"/>
                </a:solidFill>
                <a:latin typeface="Radika Next"/>
              </a:rPr>
              <a:t>Mean final fitness over 30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606040"/>
            <a:ext cx="1417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Neue Montreal"/>
              </a:rPr>
              <a:t>Lower is better. Bold = AO-PSO dominates both baselines.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80160" y="3291840"/>
          <a:ext cx="15727680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347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Neue Montreal"/>
                        </a:rPr>
                        <a:t>Benchmark</a:t>
                      </a:r>
                    </a:p>
                  </a:txBody>
                  <a:tcPr>
                    <a:solidFill>
                      <a:srgbClr val="1B2C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Neue Montreal"/>
                        </a:rPr>
                        <a:t>D</a:t>
                      </a:r>
                    </a:p>
                  </a:txBody>
                  <a:tcPr>
                    <a:solidFill>
                      <a:srgbClr val="1B2C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Neue Montreal"/>
                        </a:rPr>
                        <a:t>Standard PSO</a:t>
                      </a:r>
                    </a:p>
                  </a:txBody>
                  <a:tcPr>
                    <a:solidFill>
                      <a:srgbClr val="1B2C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Neue Montreal"/>
                        </a:rPr>
                        <a:t>O-PSO (focal)</a:t>
                      </a:r>
                    </a:p>
                  </a:txBody>
                  <a:tcPr>
                    <a:solidFill>
                      <a:srgbClr val="1B2C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Neue Montreal"/>
                        </a:rPr>
                        <a:t>AO-PSO (ours)</a:t>
                      </a:r>
                    </a:p>
                  </a:txBody>
                  <a:tcPr>
                    <a:solidFill>
                      <a:srgbClr val="1B2C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Sphere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10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1.02 × 10⁻⁴⁰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4.32 × 10⁻⁴¹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5.62 × 10⁻³⁷</a:t>
                      </a:r>
                    </a:p>
                  </a:txBody>
                  <a:tcPr>
                    <a:solidFill>
                      <a:srgbClr val="FFE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Sphere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1.67 × 10⁺³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6.67 × 10⁺²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B07A"/>
                          </a:solidFill>
                          <a:latin typeface="Neue Montreal"/>
                        </a:rPr>
                        <a:t>4.09 × 10⁻¹⁰⁶</a:t>
                      </a:r>
                    </a:p>
                  </a:txBody>
                  <a:tcPr>
                    <a:solidFill>
                      <a:srgbClr val="FFD8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Rosenbrock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10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6.24 × 10⁺³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3.06 × 10⁺³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B07A"/>
                          </a:solidFill>
                          <a:latin typeface="Neue Montreal"/>
                        </a:rPr>
                        <a:t>4.12</a:t>
                      </a:r>
                    </a:p>
                  </a:txBody>
                  <a:tcPr>
                    <a:solidFill>
                      <a:srgbClr val="FFD8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Rosenbrock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1.52 × 10⁺⁴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6.26 × 10⁺³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B07A"/>
                          </a:solidFill>
                          <a:latin typeface="Neue Montreal"/>
                        </a:rPr>
                        <a:t>2.35 × 10⁺¹</a:t>
                      </a:r>
                    </a:p>
                  </a:txBody>
                  <a:tcPr>
                    <a:solidFill>
                      <a:srgbClr val="FFD8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Rastrigin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10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1.06 × 10⁺¹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9.72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B07A"/>
                          </a:solidFill>
                          <a:latin typeface="Neue Montreal"/>
                        </a:rPr>
                        <a:t>0.00</a:t>
                      </a:r>
                    </a:p>
                  </a:txBody>
                  <a:tcPr>
                    <a:solidFill>
                      <a:srgbClr val="FFD8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Rastrigin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1.06 × 10⁺²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9.68 × 10⁺¹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B07A"/>
                          </a:solidFill>
                          <a:latin typeface="Neue Montreal"/>
                        </a:rPr>
                        <a:t>0.00</a:t>
                      </a:r>
                    </a:p>
                  </a:txBody>
                  <a:tcPr>
                    <a:solidFill>
                      <a:srgbClr val="FFD8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Griewank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10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8.67 × 10⁻²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1.09 × 10⁻¹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B07A"/>
                          </a:solidFill>
                          <a:latin typeface="Neue Montreal"/>
                        </a:rPr>
                        <a:t>0.00</a:t>
                      </a:r>
                    </a:p>
                  </a:txBody>
                  <a:tcPr>
                    <a:solidFill>
                      <a:srgbClr val="FFD8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Griewank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1.51 × 10⁺¹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6.38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B07A"/>
                          </a:solidFill>
                          <a:latin typeface="Neue Montreal"/>
                        </a:rPr>
                        <a:t>0.00</a:t>
                      </a:r>
                    </a:p>
                  </a:txBody>
                  <a:tcPr>
                    <a:solidFill>
                      <a:srgbClr val="FFD8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Ackley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10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2.86 × 10⁻¹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2.28 × 10⁻¹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B07A"/>
                          </a:solidFill>
                          <a:latin typeface="Neue Montreal"/>
                        </a:rPr>
                        <a:t>4.44 × 10⁻¹⁶</a:t>
                      </a:r>
                    </a:p>
                  </a:txBody>
                  <a:tcPr>
                    <a:solidFill>
                      <a:srgbClr val="FFD8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Ackley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4.47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4.46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B07A"/>
                          </a:solidFill>
                          <a:latin typeface="Neue Montreal"/>
                        </a:rPr>
                        <a:t>4.44 × 10⁻¹⁶</a:t>
                      </a:r>
                    </a:p>
                  </a:txBody>
                  <a:tcPr>
                    <a:solidFill>
                      <a:srgbClr val="FFD8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Schwefel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10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7.85 × 10⁺²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8.10 × 10⁺²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8.26 × 10⁺²</a:t>
                      </a:r>
                    </a:p>
                  </a:txBody>
                  <a:tcPr>
                    <a:solidFill>
                      <a:srgbClr val="FFE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134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Schwefel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4.09 × 10⁺³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3.86 × 10⁺³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Neue Montreal"/>
                        </a:rPr>
                        <a:t>5.57 × 10⁺³</a:t>
                      </a:r>
                    </a:p>
                  </a:txBody>
                  <a:tcPr>
                    <a:solidFill>
                      <a:srgbClr val="FFE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011680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0" b="1">
                <a:solidFill>
                  <a:srgbClr val="75BBEE"/>
                </a:solidFill>
                <a:latin typeface="Radika Next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914400"/>
            <a:ext cx="1371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75BBEE"/>
                </a:solidFill>
                <a:latin typeface="Neue Montreal"/>
              </a:rPr>
              <a:t>STATISTICAL SIGNIFICANCE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371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1B2C4A"/>
                </a:solidFill>
                <a:latin typeface="Radika Next"/>
              </a:rPr>
              <a:t>Wilcoxon signed-rank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606040"/>
            <a:ext cx="1417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Neue Montreal"/>
              </a:rPr>
              <a:t>p-value for the hypothesis  AO-PSO better than baseline.   Green ✓ = p &lt; 0.05.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63040" y="3291840"/>
          <a:ext cx="15361920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347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Neue Montreal"/>
                        </a:rPr>
                        <a:t>Benchmark</a:t>
                      </a:r>
                    </a:p>
                  </a:txBody>
                  <a:tcPr>
                    <a:solidFill>
                      <a:srgbClr val="1B2C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Neue Montreal"/>
                        </a:rPr>
                        <a:t>D</a:t>
                      </a:r>
                    </a:p>
                  </a:txBody>
                  <a:tcPr>
                    <a:solidFill>
                      <a:srgbClr val="1B2C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Neue Montreal"/>
                        </a:rPr>
                        <a:t>vs.  Standard PSO</a:t>
                      </a:r>
                    </a:p>
                  </a:txBody>
                  <a:tcPr>
                    <a:solidFill>
                      <a:srgbClr val="1B2C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Neue Montreal"/>
                        </a:rPr>
                        <a:t>vs.  O-PSO</a:t>
                      </a:r>
                    </a:p>
                  </a:txBody>
                  <a:tcPr>
                    <a:solidFill>
                      <a:srgbClr val="1B2C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Sphere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10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1.0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1.0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Sphere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7D157"/>
                          </a:solidFill>
                          <a:latin typeface="Neue Montreal"/>
                        </a:rPr>
                        <a:t>8.7 × 10⁻⁷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7D157"/>
                          </a:solidFill>
                          <a:latin typeface="Neue Montreal"/>
                        </a:rPr>
                        <a:t>9.3 × 10⁻¹⁰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Rosenbrock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10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0.627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0.110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Rosenbrock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7D157"/>
                          </a:solidFill>
                          <a:latin typeface="Neue Montreal"/>
                        </a:rPr>
                        <a:t>0.006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7D157"/>
                          </a:solidFill>
                          <a:latin typeface="Neue Montreal"/>
                        </a:rPr>
                        <a:t>0.027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Rastrigin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10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7D157"/>
                          </a:solidFill>
                          <a:latin typeface="Neue Montreal"/>
                        </a:rPr>
                        <a:t>8.6 × 10⁻⁷ ✓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7D157"/>
                          </a:solidFill>
                          <a:latin typeface="Neue Montreal"/>
                        </a:rPr>
                        <a:t>8.5 × 10⁻⁷ ✓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Rastrigin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7D157"/>
                          </a:solidFill>
                          <a:latin typeface="Neue Montreal"/>
                        </a:rPr>
                        <a:t>9.3 × 10⁻¹⁰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7D157"/>
                          </a:solidFill>
                          <a:latin typeface="Neue Montreal"/>
                        </a:rPr>
                        <a:t>9.3 × 10⁻¹⁰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Griewank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10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7D157"/>
                          </a:solidFill>
                          <a:latin typeface="Neue Montreal"/>
                        </a:rPr>
                        <a:t>9.3 × 10⁻¹⁰ ✓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7D157"/>
                          </a:solidFill>
                          <a:latin typeface="Neue Montreal"/>
                        </a:rPr>
                        <a:t>9.3 × 10⁻¹⁰ ✓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Griewank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7D157"/>
                          </a:solidFill>
                          <a:latin typeface="Neue Montreal"/>
                        </a:rPr>
                        <a:t>1.9 × 10⁻⁶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7D157"/>
                          </a:solidFill>
                          <a:latin typeface="Neue Montreal"/>
                        </a:rPr>
                        <a:t>1.3 × 10⁻⁶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Ackley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10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7D157"/>
                          </a:solidFill>
                          <a:latin typeface="Neue Montreal"/>
                        </a:rPr>
                        <a:t>3.5 × 10⁻⁷ ✓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7D157"/>
                          </a:solidFill>
                          <a:latin typeface="Neue Montreal"/>
                        </a:rPr>
                        <a:t>2.5 × 10⁻⁷ ✓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Ackley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7D157"/>
                          </a:solidFill>
                          <a:latin typeface="Neue Montreal"/>
                        </a:rPr>
                        <a:t>9.3 × 10⁻¹⁰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7D157"/>
                          </a:solidFill>
                          <a:latin typeface="Neue Montreal"/>
                        </a:rPr>
                        <a:t>9.3 × 10⁻¹⁰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134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Schwefel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10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0.86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0.63</a:t>
                      </a:r>
                    </a:p>
                  </a:txBody>
                  <a:tcPr>
                    <a:solidFill>
                      <a:srgbClr val="C6E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134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Schwefel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≈ 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Neue Montreal"/>
                        </a:rPr>
                        <a:t>≈ 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011680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0" b="1">
                <a:solidFill>
                  <a:srgbClr val="75BBEE"/>
                </a:solidFill>
                <a:latin typeface="Radika Next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914400"/>
            <a:ext cx="1371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75BBEE"/>
                </a:solidFill>
                <a:latin typeface="Neue Montreal"/>
              </a:rPr>
              <a:t>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371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1B2C4A"/>
                </a:solidFill>
                <a:latin typeface="Radika Next"/>
              </a:rPr>
              <a:t>Median best fitness over 30 runs at D =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606040"/>
            <a:ext cx="1417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Neue Montreal"/>
              </a:rPr>
              <a:t>AO-PSO (solid red) drops several orders of magnitude faster than either baseline.</a:t>
            </a:r>
          </a:p>
        </p:txBody>
      </p:sp>
      <p:pic>
        <p:nvPicPr>
          <p:cNvPr id="7" name="Picture 6" descr="convergence_D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351" y="3200400"/>
            <a:ext cx="11831297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011680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0" b="1">
                <a:solidFill>
                  <a:srgbClr val="75BBEE"/>
                </a:solidFill>
                <a:latin typeface="Radika Next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914400"/>
            <a:ext cx="1371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75BBEE"/>
                </a:solidFill>
                <a:latin typeface="Neue Montreal"/>
              </a:rPr>
              <a:t>FINAL-FITNESS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371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1B2C4A"/>
                </a:solidFill>
                <a:latin typeface="Radika Next"/>
              </a:rPr>
              <a:t>Box plots over 30 runs at D =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606040"/>
            <a:ext cx="1417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Neue Montreal"/>
              </a:rPr>
              <a:t>AO-PSO has a lower median AND a dramatically tighter spread on multimodal functions.</a:t>
            </a:r>
          </a:p>
        </p:txBody>
      </p:sp>
      <p:pic>
        <p:nvPicPr>
          <p:cNvPr id="7" name="Picture 6" descr="boxplots_D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510" y="3200400"/>
            <a:ext cx="11846980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011680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0" b="1">
                <a:solidFill>
                  <a:srgbClr val="FFB07A"/>
                </a:solidFill>
                <a:latin typeface="Radika Next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914400"/>
            <a:ext cx="1371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B07A"/>
                </a:solidFill>
                <a:latin typeface="Neue Montreal"/>
              </a:rPr>
              <a:t>ADAPTIVE Jr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371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1B2C4A"/>
                </a:solidFill>
                <a:latin typeface="Radika Next"/>
              </a:rPr>
              <a:t>Rastrigin, D = 30, median of 30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606040"/>
            <a:ext cx="1417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Neue Montreal"/>
              </a:rPr>
              <a:t>Left: AO-PSO keeps the swarm diverse longer.   Right: Jr peaks early, then collapses to zero.</a:t>
            </a:r>
          </a:p>
        </p:txBody>
      </p:sp>
      <p:pic>
        <p:nvPicPr>
          <p:cNvPr id="7" name="Picture 6" descr="diversity_j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108960"/>
            <a:ext cx="15727680" cy="563023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011680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0" b="1">
                <a:solidFill>
                  <a:srgbClr val="C7D157"/>
                </a:solidFill>
                <a:latin typeface="Radika Next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914400"/>
            <a:ext cx="1371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C7D157"/>
                </a:solidFill>
                <a:latin typeface="Neue Montreal"/>
              </a:rPr>
              <a:t>HONEST LIMITATION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371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1B2C4A"/>
                </a:solidFill>
                <a:latin typeface="Radika Next"/>
              </a:rPr>
              <a:t>Where AO-PSO loses — and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606040"/>
            <a:ext cx="1417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Neue Montreal"/>
              </a:rPr>
              <a:t>On Schwefel at D = 30, AO-PSO ends at 5571 vs ~3900 for the baselines.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3291840"/>
            <a:ext cx="49987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37360" y="3749040"/>
            <a:ext cx="1097280" cy="1097280"/>
          </a:xfrm>
          <a:prstGeom prst="ellipse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37360" y="3749040"/>
            <a:ext cx="109728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Radika Nex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120640"/>
            <a:ext cx="4084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2C4A"/>
                </a:solidFill>
                <a:latin typeface="Radika Next"/>
              </a:rPr>
              <a:t>Schwefel's optimum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897880"/>
            <a:ext cx="40843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Neue Montreal"/>
              </a:rPr>
              <a:t>x*  =  ( 420.97, ..., 420.97 )
FAR from the centre of the search
box  [−500, 500]^D.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44640" y="3291840"/>
            <a:ext cx="49987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101840" y="3749040"/>
            <a:ext cx="1097280" cy="1097280"/>
          </a:xfrm>
          <a:prstGeom prst="ellipse">
            <a:avLst/>
          </a:prstGeom>
          <a:solidFill>
            <a:srgbClr val="C7D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01840" y="3749040"/>
            <a:ext cx="109728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Radika Nex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1840" y="5120640"/>
            <a:ext cx="4084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2C4A"/>
                </a:solidFill>
                <a:latin typeface="Radika Next"/>
              </a:rPr>
              <a:t>Why GOBL hurts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840" y="5897880"/>
            <a:ext cx="40843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Neue Montreal"/>
              </a:rPr>
              <a:t>Generalized OBL reflects across the box
centre — straight away from the cluster
of true optima at  ≈ 420.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09120" y="3291840"/>
            <a:ext cx="49987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2466320" y="3749040"/>
            <a:ext cx="1097280" cy="1097280"/>
          </a:xfrm>
          <a:prstGeom prst="ellipse">
            <a:avLst/>
          </a:prstGeom>
          <a:solidFill>
            <a:srgbClr val="ECB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466320" y="3749040"/>
            <a:ext cx="109728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Radika Nex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66320" y="5120640"/>
            <a:ext cx="4084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2C4A"/>
                </a:solidFill>
                <a:latin typeface="Radika Next"/>
              </a:rPr>
              <a:t>Why rebel hurts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66320" y="5897880"/>
            <a:ext cx="40843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Neue Montreal"/>
              </a:rPr>
              <a:t>Worst pbest sits at the mirror local
minimum.  Repulsion from it pushes
particles toward the centre — wrong way.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" y="8229600"/>
            <a:ext cx="15727680" cy="1645920"/>
          </a:xfrm>
          <a:prstGeom prst="roundRect">
            <a:avLst>
              <a:gd name="adj" fmla="val 20000"/>
            </a:avLst>
          </a:prstGeom>
          <a:solidFill>
            <a:srgbClr val="1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28800" y="8458200"/>
            <a:ext cx="1463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Neue Montreal"/>
              </a:rPr>
              <a:t>This is a known but rarely-stated weakness of opposition-based methods.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9006840"/>
            <a:ext cx="1463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adika Next"/>
              </a:rPr>
              <a:t>Future work:  centre-shifted opposite,   x̂ = 2 · x̄ − x.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011680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0" b="1">
                <a:solidFill>
                  <a:srgbClr val="ECBEFC"/>
                </a:solidFill>
                <a:latin typeface="Radika Next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914400"/>
            <a:ext cx="1371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CBEFC"/>
                </a:solidFill>
                <a:latin typeface="Neue Montreal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371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1B2C4A"/>
                </a:solidFill>
                <a:latin typeface="Radika Next"/>
              </a:rPr>
              <a:t>What AO-PSO contributes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3108960"/>
            <a:ext cx="499872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37360" y="3566160"/>
            <a:ext cx="1097280" cy="1097280"/>
          </a:xfrm>
          <a:prstGeom prst="ellipse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37360" y="3566160"/>
            <a:ext cx="109728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Radika Nex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4937760"/>
            <a:ext cx="4084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2C4A"/>
                </a:solidFill>
                <a:latin typeface="Radika Next"/>
              </a:rPr>
              <a:t>Field-wide gaps closed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715000"/>
            <a:ext cx="4084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Neue Montreal"/>
              </a:rPr>
              <a:t>OBL throughout the search.
FE budget accounting.
Wilcoxon signed-rank significance.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44640" y="3108960"/>
            <a:ext cx="499872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101840" y="3566160"/>
            <a:ext cx="1097280" cy="1097280"/>
          </a:xfrm>
          <a:prstGeom prst="ellipse">
            <a:avLst/>
          </a:prstGeom>
          <a:solidFill>
            <a:srgbClr val="FF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01840" y="3566160"/>
            <a:ext cx="109728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Radika Nex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1840" y="4937760"/>
            <a:ext cx="4084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2C4A"/>
                </a:solidFill>
                <a:latin typeface="Radika Next"/>
              </a:rPr>
              <a:t>Novel contribution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1840" y="5715000"/>
            <a:ext cx="4084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Neue Montreal"/>
              </a:rPr>
              <a:t>The adaptive jumping rate
Jr(t) = Jr,max ( 1 − e^(−λσ_t) ).
No prior OBL-PSO paper does this.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09120" y="3108960"/>
            <a:ext cx="499872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2466320" y="3566160"/>
            <a:ext cx="1097280" cy="1097280"/>
          </a:xfrm>
          <a:prstGeom prst="ellipse">
            <a:avLst/>
          </a:prstGeom>
          <a:solidFill>
            <a:srgbClr val="C7D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466320" y="3566160"/>
            <a:ext cx="109728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Radika Nex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66320" y="4937760"/>
            <a:ext cx="4084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2C4A"/>
                </a:solidFill>
                <a:latin typeface="Radika Next"/>
              </a:rPr>
              <a:t>Empirical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66320" y="5715000"/>
            <a:ext cx="4084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Neue Montreal"/>
              </a:rPr>
              <a:t>AO-PSO wins on 5 of 6 benchmarks at D=30
Significant at  p &lt; 10⁻⁶ on most
Honest about Schwefel.</a:t>
            </a:r>
          </a:p>
        </p:txBody>
      </p:sp>
      <p:sp>
        <p:nvSpPr>
          <p:cNvPr id="21" name="Oval 20"/>
          <p:cNvSpPr/>
          <p:nvPr/>
        </p:nvSpPr>
        <p:spPr>
          <a:xfrm>
            <a:off x="2366010" y="7315200"/>
            <a:ext cx="1554480" cy="1554480"/>
          </a:xfrm>
          <a:prstGeom prst="ellipse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7452360"/>
            <a:ext cx="37261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Radika Next"/>
              </a:rPr>
              <a:t>10¹⁰⁸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8961120"/>
            <a:ext cx="37261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B2C4A"/>
                </a:solidFill>
                <a:latin typeface="Radika Next"/>
              </a:rPr>
              <a:t>Sphere D=30 ratio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9418320"/>
            <a:ext cx="37261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Neue Montreal"/>
              </a:rPr>
              <a:t>AO-PSO vs O-PSO</a:t>
            </a:r>
          </a:p>
        </p:txBody>
      </p:sp>
      <p:sp>
        <p:nvSpPr>
          <p:cNvPr id="25" name="Oval 24"/>
          <p:cNvSpPr/>
          <p:nvPr/>
        </p:nvSpPr>
        <p:spPr>
          <a:xfrm>
            <a:off x="6366510" y="7315200"/>
            <a:ext cx="1554480" cy="1554480"/>
          </a:xfrm>
          <a:prstGeom prst="ellipse">
            <a:avLst/>
          </a:prstGeom>
          <a:solidFill>
            <a:srgbClr val="C7D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80660" y="7452360"/>
            <a:ext cx="37261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Radika Next"/>
              </a:rPr>
              <a:t>0.00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0660" y="8961120"/>
            <a:ext cx="37261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B2C4A"/>
                </a:solidFill>
                <a:latin typeface="Radika Next"/>
              </a:rPr>
              <a:t>Rastrigin &amp; Griewank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0660" y="9418320"/>
            <a:ext cx="37261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Neue Montreal"/>
              </a:rPr>
              <a:t>exact global optimum</a:t>
            </a:r>
          </a:p>
        </p:txBody>
      </p:sp>
      <p:sp>
        <p:nvSpPr>
          <p:cNvPr id="29" name="Oval 28"/>
          <p:cNvSpPr/>
          <p:nvPr/>
        </p:nvSpPr>
        <p:spPr>
          <a:xfrm>
            <a:off x="10367010" y="7315200"/>
            <a:ext cx="1554480" cy="1554480"/>
          </a:xfrm>
          <a:prstGeom prst="ellipse">
            <a:avLst/>
          </a:prstGeom>
          <a:solidFill>
            <a:srgbClr val="ECB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81160" y="7452360"/>
            <a:ext cx="37261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Radika Next"/>
              </a:rPr>
              <a:t>p&lt;10⁻⁹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8961120"/>
            <a:ext cx="37261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B2C4A"/>
                </a:solidFill>
                <a:latin typeface="Radika Next"/>
              </a:rPr>
              <a:t>Wilcoxon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9418320"/>
            <a:ext cx="37261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Neue Montreal"/>
              </a:rPr>
              <a:t>on most benchmarks</a:t>
            </a:r>
          </a:p>
        </p:txBody>
      </p:sp>
      <p:sp>
        <p:nvSpPr>
          <p:cNvPr id="33" name="Oval 32"/>
          <p:cNvSpPr/>
          <p:nvPr/>
        </p:nvSpPr>
        <p:spPr>
          <a:xfrm>
            <a:off x="14367510" y="7315200"/>
            <a:ext cx="1554480" cy="1554480"/>
          </a:xfrm>
          <a:prstGeom prst="ellipse">
            <a:avLst/>
          </a:prstGeom>
          <a:solidFill>
            <a:srgbClr val="FF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281660" y="7452360"/>
            <a:ext cx="37261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Radika Next"/>
              </a:rPr>
              <a:t>1 /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81660" y="8961120"/>
            <a:ext cx="37261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B2C4A"/>
                </a:solidFill>
                <a:latin typeface="Radika Next"/>
              </a:rPr>
              <a:t>Honest loss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81660" y="9418320"/>
            <a:ext cx="37261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Neue Montreal"/>
              </a:rPr>
              <a:t>Schwefel (off-centre)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4114800" y="-4114800"/>
            <a:ext cx="10058400" cy="10058400"/>
          </a:xfrm>
          <a:prstGeom prst="ellipse">
            <a:avLst/>
          </a:prstGeom>
          <a:solidFill>
            <a:srgbClr val="C7D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2344400" y="4343400"/>
            <a:ext cx="9144000" cy="9144000"/>
          </a:xfrm>
          <a:prstGeom prst="ellipse">
            <a:avLst/>
          </a:prstGeom>
          <a:solidFill>
            <a:srgbClr val="75B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3716000" y="1828800"/>
            <a:ext cx="914400" cy="914400"/>
          </a:xfrm>
          <a:prstGeom prst="ellipse">
            <a:avLst/>
          </a:prstGeom>
          <a:solidFill>
            <a:srgbClr val="FF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200400" y="7772400"/>
            <a:ext cx="640080" cy="640080"/>
          </a:xfrm>
          <a:prstGeom prst="ellipse">
            <a:avLst/>
          </a:prstGeom>
          <a:solidFill>
            <a:srgbClr val="ECB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0" y="2926080"/>
            <a:ext cx="118872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3383280"/>
            <a:ext cx="118872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0" b="1" i="0">
                <a:solidFill>
                  <a:srgbClr val="1B2C4A"/>
                </a:solidFill>
                <a:latin typeface="Radika Next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5852160"/>
            <a:ext cx="11887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0" i="0">
                <a:solidFill>
                  <a:srgbClr val="75BBEE"/>
                </a:solidFill>
                <a:latin typeface="Radika Next"/>
              </a:rPr>
              <a:t>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6583680"/>
            <a:ext cx="11887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555555"/>
                </a:solidFill>
                <a:latin typeface="Neue Montreal"/>
              </a:rPr>
              <a:t>AO-PSO  ·  Swarm Intelligence, Final Phase  ·  NUTECH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2546</Words>
  <Application>Microsoft Office PowerPoint</Application>
  <PresentationFormat>Custom</PresentationFormat>
  <Paragraphs>422</Paragraphs>
  <Slides>23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Neue Montreal</vt:lpstr>
      <vt:lpstr>Radika Next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Saqlain Abbas</cp:lastModifiedBy>
  <cp:revision>2</cp:revision>
  <dcterms:created xsi:type="dcterms:W3CDTF">2013-01-27T09:14:16Z</dcterms:created>
  <dcterms:modified xsi:type="dcterms:W3CDTF">2026-05-20T20:35:56Z</dcterms:modified>
  <cp:category/>
</cp:coreProperties>
</file>