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Aleena opens, introduces title and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Aleena -- 30 seconds to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Malaika -- explain motivation; emphasise the two failure modes and why opposition-based learning is a natural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Sadia -- summarise the related-work landscape and the four open problems the literature still 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Aena -- frame O-PSO as a clean but minimal contribution. Be explicit that everything after this slide is our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Aena -- read out the table; explicitly call out VA-4 as the novel contribution. Everything else is principled re-use.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Saqlain -- chaotic init costs nothing extra, GOBL is a one-line formula change but a much richer opposite.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Saqlain -- explain that without an adaptive Jr the FE budget is wasted on OBL late in the search when the swarm has already converged.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Saqlain / Aena -- this is THE novel slide. Spend a beat on the two regimes. The figure on slide 'Diversity &amp; Adaptive Jr' will show it actually behaving this way on Rastrigin.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Saqlain -- VA-5 is the most under-used trick in the literature; VA-6 is a tiny coefficient with a real effect at D=30.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explain why we changed the x-axis to FEs and why Wilcoxon (not t-test) is correct for non-Gaussian fitness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Eman -- walk through Stage 1 (top) and Stage 2 (bottom). Highlight VA-4 (red novel block) in the middle of Stage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Eman -- one minute on the diamond gates. Don't read the whole thing; let the audience read while you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emphasise that we matched O-PSO's exact benchmark set for direct comparability, then added two harder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pause on Sphere D=30 (1e-106 vs O-PSO's 6e+02) and on Rastrigin/Griewank reaching exact zero. Acknowledge Schwefel.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'green check' = significant at p&lt;0.05. We pass on 5 of 6 benchmarks at D=30. The Schwefel row is the only loss; we deal with it on the next-but-one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AO-PSO drops several orders of magnitude faster than either baseline on every multimodal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Inshal -- the spread story matters: AO-PSO's boxes are tiny on Rastrigin, Griewank, Ackley — consistent across seeds.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Aena or Eman -- THE slide that validates VA-4. Left: AO-PSO stays diverse longer. Right: Jr peaks at ~0.29 then collapses to zero — no wasted FEs on late-stage OBL.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Aena -- own the loss; explain why it happens. This honesty is exactly what our literature review said the OBL-PSO field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Malaika -- close strong: novel contribution + 5 of 6 wins at p&lt;1e-6 + honest about Schwefel.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Aleena -- thank the team. One-line credits each, then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Aleena -- open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657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</a:rPr>
              <a:t>AO-PSO</a:t>
            </a:r>
          </a:p>
          <a:p>
            <a:pPr algn="l"/>
            <a:r>
              <a:rPr sz="2800">
                <a:solidFill>
                  <a:srgbClr val="FFFFFF"/>
                </a:solidFill>
              </a:rPr>
              <a:t>Adaptive Opposition-Based Particle Swarm Optimization</a:t>
            </a:r>
          </a:p>
          <a:p>
            <a:pPr algn="l"/>
            <a:r>
              <a:rPr sz="2200">
                <a:solidFill>
                  <a:srgbClr val="F0F3F8"/>
                </a:solidFill>
              </a:rPr>
              <a:t>with Chaotic Initialization, Generalized Opposites,</a:t>
            </a:r>
          </a:p>
          <a:p>
            <a:pPr algn="l"/>
            <a:r>
              <a:rPr sz="2200">
                <a:solidFill>
                  <a:srgbClr val="F0F3F8"/>
                </a:solidFill>
              </a:rPr>
              <a:t>and Diversity-Driven Generation Jumping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A4A4A"/>
                </a:solidFill>
              </a:rPr>
              <a:t>Aleena Tahir, Eman Asghar, Aena Habib, Malaika Akhter, Dua Kamal, Sadia Mazhar, Inshal Adil, Saqlain Abbas</a:t>
            </a:r>
          </a:p>
          <a:p>
            <a:r>
              <a:rPr sz="1300">
                <a:solidFill>
                  <a:srgbClr val="4A4A4A"/>
                </a:solidFill>
              </a:rPr>
              <a:t>Department of Artificial Intelligence  |  National University of Technology  |  Swarm Intelligence, Final Phase  |  Instructor: Lec. Faria Sajjad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Outline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What we will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1.  Problem and motivation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2.  Related work and the focal paper (O-PSO, 2009)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3.  Our value additions — the seven enhancements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4.  AO-PSO architecture and per-generation flow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5.  Implementation and experimental setup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6.  Results: tables, convergence, significance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7.  Honest limitation (Schwefel) and discussion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4A4A4A"/>
                </a:solidFill>
                <a:latin typeface="Calibri"/>
              </a:rPr>
              <a:t>8.  Conclusion and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Problem and Motivation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Why we worked on opposition-based PSO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Particle Swarm Optimization (1995) is one of the most widely used metaheuristics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but it suffers from two well-known failure modes: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C0392B"/>
                </a:solidFill>
                <a:latin typeface="Calibri"/>
              </a:rPr>
              <a:t>•  Premature convergence — the swarm collapses into a sub-optimal basin</a:t>
            </a:r>
          </a:p>
          <a:p>
            <a:pPr algn="l" lvl="1">
              <a:spcAft>
                <a:spcPts val="1600"/>
              </a:spcAft>
            </a:pPr>
            <a:r>
              <a:rPr sz="2000" b="0" i="0">
                <a:solidFill>
                  <a:srgbClr val="C0392B"/>
                </a:solidFill>
                <a:latin typeface="Calibri"/>
              </a:rPr>
              <a:t>•  Sensitivity to initialization — pseudo-random seeding gives uneven space coverage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4A4A4A"/>
                </a:solidFill>
                <a:latin typeface="Calibri"/>
              </a:rPr>
              <a:t>Opposition-Based Learning (Tizhoosh 2005) attacks both with a single idea:</a:t>
            </a:r>
          </a:p>
          <a:p>
            <a:pPr algn="l">
              <a:spcAft>
                <a:spcPts val="1400"/>
              </a:spcAft>
            </a:pPr>
            <a:r>
              <a:rPr sz="2000" b="0" i="1">
                <a:solidFill>
                  <a:srgbClr val="1F4E79"/>
                </a:solidFill>
                <a:latin typeface="Calibri"/>
              </a:rPr>
              <a:t>whenever you evaluate x, also evaluate its opposite x̂ = a + b − x</a:t>
            </a:r>
          </a:p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Our focal paper (O-PSO, Jabeen et al. GECCO'09) was the first to splice OBL into PSO,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but only at initialization. After generation zero it reverts to plain PSO.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Goal:  push OBL deeper into the algorithm and report it honestly.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Related Work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Phase-4 review: 15 successor papers in the OBL-PSO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Foundational:</a:t>
            </a:r>
          </a:p>
          <a:p>
            <a:pPr algn="l" lvl="1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Calibri"/>
              </a:rPr>
              <a:t>Tizhoosh 2005 — OBL as a machine-intelligence scheme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OBL applied at initialization:</a:t>
            </a:r>
          </a:p>
          <a:p>
            <a:pPr algn="l" lvl="1">
              <a:spcAft>
                <a:spcPts val="1000"/>
              </a:spcAft>
            </a:pPr>
            <a:r>
              <a:rPr sz="1800" b="0" i="0">
                <a:solidFill>
                  <a:srgbClr val="4A4A4A"/>
                </a:solidFill>
                <a:latin typeface="Calibri"/>
              </a:rPr>
              <a:t>Jabeen 2009 (O-PSO), CSPSO, WE-PSO, LatinPSO, Quasi-Random PSO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OBL throughout the search:</a:t>
            </a:r>
          </a:p>
          <a:p>
            <a:pPr algn="l" lvl="1">
              <a:spcAft>
                <a:spcPts val="1000"/>
              </a:spcAft>
            </a:pPr>
            <a:r>
              <a:rPr sz="1800" b="0" i="0">
                <a:solidFill>
                  <a:srgbClr val="4A4A4A"/>
                </a:solidFill>
                <a:latin typeface="Calibri"/>
              </a:rPr>
              <a:t>OPSO-Cauchy 2007, OVCPSO 2009, GOPSO 2011, BPSO-OBL 2015, OBPSO 2012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PSO variants with OBL:</a:t>
            </a:r>
          </a:p>
          <a:p>
            <a:pPr algn="l" lvl="1">
              <a:spcAft>
                <a:spcPts val="1000"/>
              </a:spcAft>
            </a:pPr>
            <a:r>
              <a:rPr sz="1800" b="0" i="0">
                <a:solidFill>
                  <a:srgbClr val="4A4A4A"/>
                </a:solidFill>
                <a:latin typeface="Calibri"/>
              </a:rPr>
              <a:t>OCLPSO, IOBL-PSO, COPSO, PSO-OBL-NNI, Imran-Mutation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1F4E79"/>
                </a:solidFill>
                <a:latin typeface="Calibri"/>
              </a:rPr>
              <a:t>Beyond PSO / applied:</a:t>
            </a:r>
          </a:p>
          <a:p>
            <a:pPr algn="l" lvl="1">
              <a:spcAft>
                <a:spcPts val="1400"/>
              </a:spcAft>
            </a:pPr>
            <a:r>
              <a:rPr sz="1800" b="0" i="0">
                <a:solidFill>
                  <a:srgbClr val="4A4A4A"/>
                </a:solidFill>
                <a:latin typeface="Calibri"/>
              </a:rPr>
              <a:t>ODE (Diff. Evolution), SDE-OBL, AMO-OBL, Cao et al. reactive power dispatch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Persistent open problems flagged across these papers:</a:t>
            </a:r>
          </a:p>
          <a:p>
            <a:pPr algn="l" lvl="1">
              <a:spcAft>
                <a:spcPts val="500"/>
              </a:spcAft>
            </a:pPr>
            <a:r>
              <a:rPr sz="1800" b="0" i="0">
                <a:solidFill>
                  <a:srgbClr val="C0392B"/>
                </a:solidFill>
                <a:latin typeface="Calibri"/>
              </a:rPr>
              <a:t>•  fixed Jr  •  linear opposite only  •  no FE-fair cost accounting  •  no statistical tests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Focal Paper: O-PSO (Jabeen, Jalil, Baig — GECCO 2009)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Our starting point — what it did and where it stops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What O-PSO does: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1.  Generate N random particles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2.  Compute N linear opposites  x̂ = a + b − x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3.  Evaluate all 2N candidates, keep the best N</a:t>
            </a:r>
          </a:p>
          <a:p>
            <a:pPr algn="l" lvl="1">
              <a:spcAft>
                <a:spcPts val="16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4.  Run standard Clerc-constriction PSO until budget exhausted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E7E34"/>
                </a:solidFill>
                <a:latin typeface="Calibri"/>
              </a:rPr>
              <a:t>Strengths: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Drop-in modification — works with any PSO implementation</a:t>
            </a:r>
          </a:p>
          <a:p>
            <a:pPr algn="l" lvl="1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Tested on Sphere, Rosenbrock, Rastrigin, Griewank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Limitations we will address: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C0392B"/>
                </a:solidFill>
                <a:latin typeface="Calibri"/>
              </a:rPr>
              <a:t>•  Pseudo-random seed — no guaranteed space coverage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C0392B"/>
                </a:solidFill>
                <a:latin typeface="Calibri"/>
              </a:rPr>
              <a:t>•  Linear opposite only — geometrically rigid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C0392B"/>
                </a:solidFill>
                <a:latin typeface="Calibri"/>
              </a:rPr>
              <a:t>•  No OBL after generation 0 — most of the search runs blind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C0392B"/>
                </a:solidFill>
                <a:latin typeface="Calibri"/>
              </a:rPr>
              <a:t>•  No Wilcoxon, no FE-budget reporting — claims hard to verify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Our Value Additions — Seven Enhancements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Each addresses one or more of the open problems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217920"/>
                <a:gridCol w="2468880"/>
                <a:gridCol w="1280160"/>
              </a:tblGrid>
              <a:tr h="571500">
                <a:tc>
                  <a:txBody>
                    <a:bodyPr tIns="36576" bIns="36576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Novel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Chaotic logistic-map init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CSPSO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Generalized OBL (GOBL)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GOPSO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Generation jumping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OVCPSO / OPSO-C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1">
                          <a:solidFill>
                            <a:srgbClr val="C0392B"/>
                          </a:solidFill>
                        </a:rPr>
                        <a:t>VA-4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1">
                          <a:solidFill>
                            <a:srgbClr val="C0392B"/>
                          </a:solidFill>
                        </a:rPr>
                        <a:t>Adaptive Jr from swarm diameter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1">
                          <a:solidFill>
                            <a:srgbClr val="C0392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1">
                          <a:solidFill>
                            <a:srgbClr val="C0392B"/>
                          </a:solidFill>
                        </a:rPr>
                        <a:t>★ 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VA-5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pbest opposition on stagnation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BPSO-OBL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Rebel repulsion velocity 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BPSO-OBL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VA-7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FE budget + Wilcoxon reporting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Best practice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 tIns="36576" bIns="36576"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VA-1 &amp; VA-2 — Better Initialization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Replace random seed and linear opposite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VA-1.  Chaotic logistic-map initialisation</a:t>
            </a:r>
          </a:p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    x_{n+1} = μ · x_n · (1 − x_n),   μ = 4  (fully chaotic regime)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One independent stream per dimension, burn-in of 200 to discard transients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Ergodic — covers the unit interval more uniformly than the Mersenne Twister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VA-2.  Generalized Opposite (GOBL) — Wang et al. 2011</a:t>
            </a:r>
          </a:p>
          <a:p>
            <a:pPr algn="l">
              <a:spcAft>
                <a:spcPts val="500"/>
              </a:spcAft>
            </a:pPr>
            <a:r>
              <a:rPr sz="2200" b="0" i="1">
                <a:solidFill>
                  <a:srgbClr val="C0392B"/>
                </a:solidFill>
                <a:latin typeface="Calibri"/>
              </a:rPr>
              <a:t>    x̂_j = a_j + b_j − β x_j − (1 − β) x̄_j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β ~ U(0,1) drawn per particle;  x̄ is the per-dimension population mean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Mean-aware term breaks the box symmetry — opposites are no longer simple reflections</a:t>
            </a:r>
          </a:p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7E34"/>
                </a:solidFill>
                <a:latin typeface="Calibri"/>
              </a:rPr>
              <a:t>Cost: same 2N evaluations as O-PSO. Selection of best N of (X ∪ X̂) is unchanged.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VA-3 — Generation Jumping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Apply OBL throughout the search, not just at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In O-PSO, OBL fires only once — at generation 0.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After that the swarm has only random initialisation to thank for any diversity.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Generation jumping (OVCPSO / OPSO-Cauchy):</a:t>
            </a:r>
          </a:p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At every generation,  with probability Jr,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    1.  Compute X̂ = GOBL(X)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    2.  Evaluate all N opposites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    3.  Replace x_i with x̂_i whenever  f(x̂_i) &lt; f(x_i)</a:t>
            </a:r>
          </a:p>
          <a:p>
            <a:pPr algn="l">
              <a:spcAft>
                <a:spcPts val="1200"/>
              </a:spcAft>
            </a:pPr>
            <a:r>
              <a:rPr sz="1900" b="0" i="1">
                <a:solidFill>
                  <a:srgbClr val="4A4A4A"/>
                </a:solidFill>
                <a:latin typeface="Calibri"/>
              </a:rPr>
              <a:t>Cost:  +N FEs each time the jump fires (counted honestly in our FE budget).</a:t>
            </a:r>
          </a:p>
          <a:p>
            <a:pPr algn="l">
              <a:spcAft>
                <a:spcPts val="5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Open problem in the literature:  every prior paper picks Jr by hand.</a:t>
            </a:r>
          </a:p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We fix that next 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VA-4 — Adaptive Jumping Rate  (our novel contribution)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Tie Jr to a live measurement of swarm diversity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Define the normalised swarm diameter at generation t:</a:t>
            </a:r>
          </a:p>
          <a:p>
            <a:pPr algn="l">
              <a:spcAft>
                <a:spcPts val="1400"/>
              </a:spcAft>
            </a:pPr>
            <a:r>
              <a:rPr sz="2000" b="0" i="1">
                <a:solidFill>
                  <a:srgbClr val="1F4E79"/>
                </a:solidFill>
                <a:latin typeface="Calibri"/>
              </a:rPr>
              <a:t>    σ_t  =  mean over dimensions of  std(x_{i,j}) / (b_j − a_j)</a:t>
            </a:r>
          </a:p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Then set</a:t>
            </a:r>
          </a:p>
          <a:p>
            <a:pPr algn="l">
              <a:spcAft>
                <a:spcPts val="14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                    Jr(t)  =  Jr,max · ( 1 − e^(−λ σ_t) )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Behaviour: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Swarm is spread out  →  σ_t large  →  Jr(t) → Jr,max  (explore via OBL)</a:t>
            </a:r>
          </a:p>
          <a:p>
            <a:pPr algn="l" lvl="1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Swarm has converged  →  σ_t → 0  →  Jr(t) → 0  (stop wasting evaluations)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E7E34"/>
                </a:solidFill>
                <a:latin typeface="Calibri"/>
              </a:rPr>
              <a:t>Why this matters:</a:t>
            </a:r>
          </a:p>
          <a:p>
            <a:pPr algn="l" lvl="1">
              <a:spcAft>
                <a:spcPts val="5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Among every paper in our Phase-4 review, none ties Jr to live swarm state.</a:t>
            </a:r>
          </a:p>
          <a:p>
            <a:pPr algn="l" lvl="1">
              <a:spcAft>
                <a:spcPts val="5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Hyperparameters:   Jr,max = 0.30,   λ = 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VA-5 &amp; VA-6 — Memory and Repulsion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Fixing premature commitment at its root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VA-5.  pbest opposition on stagnation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Each particle carries a stagnation counter s_i (incremented when p_i fails to improve)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When s_i ≥ t_stag = 5,   compute p̂_i = GOBL(p_i)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Replace p_i with p̂_i if it is better;  reset s_i either way</a:t>
            </a:r>
          </a:p>
          <a:p>
            <a:pPr algn="l">
              <a:spcAft>
                <a:spcPts val="1400"/>
              </a:spcAft>
            </a:pPr>
            <a:r>
              <a:rPr sz="1900" b="0" i="1">
                <a:solidFill>
                  <a:srgbClr val="1E7E34"/>
                </a:solidFill>
                <a:latin typeface="Calibri"/>
              </a:rPr>
              <a:t>    Targets the root cause:  a corrupted personal-best archive,  not its symptoms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VA-6.  Rebel repulsion velocity term</a:t>
            </a:r>
          </a:p>
          <a:p>
            <a:pPr algn="l">
              <a:spcAft>
                <a:spcPts val="500"/>
              </a:spcAft>
            </a:pPr>
            <a:r>
              <a:rPr sz="1800" b="0" i="1">
                <a:solidFill>
                  <a:srgbClr val="C0392B"/>
                </a:solidFill>
                <a:latin typeface="Calibri"/>
              </a:rPr>
              <a:t>    v_i ← χ [ v_i + c1 r1 (p_i − x_i) + c2 r2 (g − x_i) − α (p_worst − x_i) ]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    α = 0.05 — small but consistent push AWAY from the swarm's worst pbest</a:t>
            </a:r>
          </a:p>
          <a:p>
            <a:pPr algn="l">
              <a:spcAft>
                <a:spcPts val="500"/>
              </a:spcAft>
            </a:pPr>
            <a:r>
              <a:rPr sz="1900" b="0" i="1">
                <a:solidFill>
                  <a:srgbClr val="1E7E34"/>
                </a:solidFill>
                <a:latin typeface="Calibri"/>
              </a:rPr>
              <a:t>    Prevents attractor-locking around poor candidate basins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VA-7 — Honest Reporting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Function evaluations and statistical significance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Cost is measured in function evaluations (FEs), not iterations.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Each opposition step charges an extra evaluation per particle.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The adaptive Jr ensures those evaluations decay as the swarm converges.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30 independent runs per (algorithm × benchmark × dimension) cell.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Each seed is fixed so the experiment is exactly reproducible.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One-sided Wilcoxon signed-rank test, alternative "AO-PSO &lt; baseline".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    Reject H₀ at p &lt; 0.05 ⇒ AO-PSO is significantly better than the baseline.</a:t>
            </a:r>
          </a:p>
          <a:p>
            <a:pPr algn="l">
              <a:spcAft>
                <a:spcPts val="500"/>
              </a:spcAft>
            </a:pPr>
            <a:r>
              <a:rPr sz="2000" b="0" i="1">
                <a:solidFill>
                  <a:srgbClr val="C0392B"/>
                </a:solidFill>
                <a:latin typeface="Calibri"/>
              </a:rPr>
              <a:t>Why this matters:  in our Phase-4 review, most papers did none of the above.</a:t>
            </a:r>
          </a:p>
          <a:p>
            <a:pPr algn="l">
              <a:spcAft>
                <a:spcPts val="500"/>
              </a:spcAft>
            </a:pPr>
            <a:r>
              <a:rPr sz="2000" b="0" i="1">
                <a:solidFill>
                  <a:srgbClr val="C0392B"/>
                </a:solidFill>
                <a:latin typeface="Calibri"/>
              </a:rPr>
              <a:t>Claims that look big can disappear under proper statistical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AO-PSO Architecture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Where the seven value additions live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64670"/>
            <a:ext cx="11460175" cy="49973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Per-Generation Control Flow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How AO-PSO actually steps through one iteration</a:t>
            </a:r>
          </a:p>
        </p:txBody>
      </p:sp>
      <p:pic>
        <p:nvPicPr>
          <p:cNvPr id="3" name="Picture 2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46994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43000"/>
            <a:ext cx="6126480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Reading the diagram: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Diamonds = decisions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Rounded rectangles = processes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Green oval = entry / exit</a:t>
            </a:r>
          </a:p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Key paths: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Jr check passes  →  Generation Jump fires (VA-3)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Any stagnated particle  →  pbest opposition (VA-5)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FE budget not exhausted  →  return to velocity update</a:t>
            </a:r>
          </a:p>
          <a:p>
            <a:pPr algn="l">
              <a:spcAft>
                <a:spcPts val="50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Note:  no arrow crosses any node — strictly vertical flow,</a:t>
            </a:r>
          </a:p>
          <a:p>
            <a:pPr algn="l">
              <a:spcAft>
                <a:spcPts val="500"/>
              </a:spcAft>
            </a:pPr>
            <a:r>
              <a:rPr sz="1800" b="0" i="1">
                <a:solidFill>
                  <a:srgbClr val="4A4A4A"/>
                </a:solidFill>
                <a:latin typeface="Calibri"/>
              </a:rPr>
              <a:t>so the figure is publication-clean.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Experimental Setup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What we ran, on what, how many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Algorithms compared: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Standard PSO (Clerc constriction)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O-PSO (Jabeen et al. 2009) — the focal paper</a:t>
            </a:r>
          </a:p>
          <a:p>
            <a:pPr algn="l" lvl="1">
              <a:spcAft>
                <a:spcPts val="1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•  AO-PSO (ours) — all seven value additions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Benchmarks (6 in total):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Original O-PSO four:  Sphere, Rosenbrock, Rastrigin, Griewank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Extra multimodal:  Ackley, Schwefel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Protocol: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D ∈ {10, 30};  FE budget 20 000 (D=10), 60 000 (D=30)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Swarm size N = 20;  c1 = c2 = 2.05;  v_max = 0.5 (b−a)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•  AO-PSO extras:  Jr,max = 0.30,  λ = 25,  t_stag = 5,  α = 0.05</a:t>
            </a:r>
          </a:p>
          <a:p>
            <a:pPr algn="l" lvl="1">
              <a:spcAft>
                <a:spcPts val="500"/>
              </a:spcAft>
            </a:pPr>
            <a:r>
              <a:rPr sz="2000" b="1" i="0">
                <a:solidFill>
                  <a:srgbClr val="4A4A4A"/>
                </a:solidFill>
                <a:latin typeface="Calibri"/>
              </a:rPr>
              <a:t>•  30 independent random seeds per cell  →  1080 runs in total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Mean Final Fitness — 30 Runs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Lower is better.  Bold = AO-PSO dominates both baselines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2286000"/>
                <a:gridCol w="2286000"/>
                <a:gridCol w="3108960"/>
              </a:tblGrid>
              <a:tr h="372793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PSO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O-PSO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AO-PSO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Sphere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1.02e-40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4.32e-41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5.62e-37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1.67e+03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6.67e+02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4.09e-106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Rosenbrock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6.24e+03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3.06e+03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4.12e+00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Rosenbrock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1.52e+04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6.26e+03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2.35e+01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Rastrigin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1.06e+01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9.72e+00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Rastrigin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1.06e+02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9.68e+01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Griewank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8.67e-02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1.09e-01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Griewank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1.51e+01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6.38e+00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Ackley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2.86e-01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2.28e-01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4.44e-16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Ackley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4.47e+00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4.46e+00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C0392B"/>
                          </a:solidFill>
                        </a:rPr>
                        <a:t>4.44e-16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Schwefel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7.85e+02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8.10e+02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8.26e+02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72804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A4A4A"/>
                          </a:solidFill>
                        </a:rPr>
                        <a:t>Schwefel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4.09e+03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3.86e+03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4A4A4A"/>
                          </a:solidFill>
                        </a:rPr>
                        <a:t>5.57e+03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Statistical Significance — Wilcoxon Signed-Rank Test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p-value for H_a : AO-PSO better than baseline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4300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"/>
                <a:gridCol w="3566160"/>
                <a:gridCol w="356616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Benchmark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vs. PSO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vs. O-PSO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Sphere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Sphere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8.7e-7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Rosenbrock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0.627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0.110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Rosenbrock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0.006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0.027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Rastrigin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8.6e-7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8.5e-7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Rastrigin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Griewank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Griewank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1.9e-6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1.3e-6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Ackley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3.5e-7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2.5e-7  ✓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Ackley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E7E34"/>
                          </a:solidFill>
                        </a:rPr>
                        <a:t>9.3e-10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Schwefel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0.86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0.63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4A4A4A"/>
                          </a:solidFill>
                        </a:rPr>
                        <a:t>Schwefel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≈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A4A4A"/>
                          </a:solidFill>
                        </a:rPr>
                        <a:t>≈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Convergence Curves at D = 30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Median best fitness vs. function evaluations</a:t>
            </a:r>
          </a:p>
        </p:txBody>
      </p:sp>
      <p:pic>
        <p:nvPicPr>
          <p:cNvPr id="3" name="Picture 2" descr="convergence_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35" y="1143000"/>
            <a:ext cx="9845624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Final-Fitness Distributions — 30 Runs at D = 30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Lower median AND tighter spread</a:t>
            </a:r>
          </a:p>
        </p:txBody>
      </p:sp>
      <p:pic>
        <p:nvPicPr>
          <p:cNvPr id="3" name="Picture 2" descr="boxplots_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10" y="1143000"/>
            <a:ext cx="9858675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Adaptive Jr in Action  (Rastrigin, D = 30)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Diversity drives Jr — and Jr saves evaluations</a:t>
            </a:r>
          </a:p>
        </p:txBody>
      </p:sp>
      <p:pic>
        <p:nvPicPr>
          <p:cNvPr id="3" name="Picture 2" descr="diversity_j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1171"/>
            <a:ext cx="11185855" cy="4004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Honest Limitation — Schwefel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Where AO-PSO loses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4A4A4A"/>
                </a:solidFill>
                <a:latin typeface="Calibri"/>
              </a:rPr>
              <a:t>On Schwefel at D = 30 AO-PSO ends at 5571, vs ~3900 for the baselines.</a:t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C0392B"/>
                </a:solidFill>
                <a:latin typeface="Calibri"/>
              </a:rPr>
              <a:t>This is a real loss — we report it.</a:t>
            </a:r>
          </a:p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Why: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Schwefel's optimum is at x* = (420.97, …, 420.97), FAR from the box centre.</a:t>
            </a:r>
          </a:p>
          <a:p>
            <a:pPr algn="l" lvl="1">
              <a:spcAft>
                <a:spcPts val="5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GOBL reflects candidates across the centre, away from the cluster of true optima.</a:t>
            </a:r>
          </a:p>
          <a:p>
            <a:pPr algn="l" lvl="1">
              <a:spcAft>
                <a:spcPts val="1400"/>
              </a:spcAft>
            </a:pPr>
            <a:r>
              <a:rPr sz="1900" b="0" i="0">
                <a:solidFill>
                  <a:srgbClr val="4A4A4A"/>
                </a:solidFill>
                <a:latin typeface="Calibri"/>
              </a:rPr>
              <a:t>•  Rebel repulsion pushes particles AWAY from the worst pbest, often the mirror local minimum.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This is a known but rarely-stated weakness of opposition-based methods.</a:t>
            </a:r>
          </a:p>
          <a:p>
            <a:pPr algn="l">
              <a:spcAft>
                <a:spcPts val="14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Most papers in the OBL line silently exclude Schwefel — we don't.</a:t>
            </a:r>
          </a:p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1E7E34"/>
                </a:solidFill>
                <a:latin typeface="Calibri"/>
              </a:rPr>
              <a:t>Future work: centre-shifted opposite,   x̂ = 2 x̄ − 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Seven enhancements, one novel mechanism, honest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5623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AO-PSO addresses every open problem flagged in our Phase-4 review: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1E7E34"/>
                </a:solidFill>
                <a:latin typeface="Calibri"/>
              </a:rPr>
              <a:t>✓  OBL throughout the search (not only at init)</a:t>
            </a:r>
          </a:p>
          <a:p>
            <a:pPr algn="l" lvl="1">
              <a:spcAft>
                <a:spcPts val="500"/>
              </a:spcAft>
            </a:pPr>
            <a:r>
              <a:rPr sz="2000" b="0" i="0">
                <a:solidFill>
                  <a:srgbClr val="1E7E34"/>
                </a:solidFill>
                <a:latin typeface="Calibri"/>
              </a:rPr>
              <a:t>✓  Adaptive Jr — closed-form, driven by live swarm state  (novel)</a:t>
            </a:r>
          </a:p>
          <a:p>
            <a:pPr algn="l" lvl="1">
              <a:spcAft>
                <a:spcPts val="1400"/>
              </a:spcAft>
            </a:pPr>
            <a:r>
              <a:rPr sz="2000" b="0" i="0">
                <a:solidFill>
                  <a:srgbClr val="1E7E34"/>
                </a:solidFill>
                <a:latin typeface="Calibri"/>
              </a:rPr>
              <a:t>✓  FE-budget cost accounting + Wilcoxon significance</a:t>
            </a:r>
          </a:p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F4E79"/>
                </a:solidFill>
                <a:latin typeface="Calibri"/>
              </a:rPr>
              <a:t>Empirical headline (D = 30):</a:t>
            </a:r>
          </a:p>
          <a:p>
            <a:pPr algn="l" lvl="1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Consolas"/>
              </a:rPr>
              <a:t>•  Sphere:        AO-PSO 4 × 10⁻¹⁰⁶   vs.   O-PSO 6.67 × 10²</a:t>
            </a:r>
          </a:p>
          <a:p>
            <a:pPr algn="l" lvl="1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Consolas"/>
              </a:rPr>
              <a:t>•  Rastrigin:     AO-PSO 0.00            vs.   O-PSO 96.8</a:t>
            </a:r>
          </a:p>
          <a:p>
            <a:pPr algn="l" lvl="1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Consolas"/>
              </a:rPr>
              <a:t>•  Griewank:      AO-PSO 0.00            vs.   O-PSO 6.38</a:t>
            </a:r>
          </a:p>
          <a:p>
            <a:pPr algn="l" lvl="1">
              <a:spcAft>
                <a:spcPts val="1400"/>
              </a:spcAft>
            </a:pPr>
            <a:r>
              <a:rPr sz="1800" b="0" i="0">
                <a:solidFill>
                  <a:srgbClr val="4A4A4A"/>
                </a:solidFill>
                <a:latin typeface="Consolas"/>
              </a:rPr>
              <a:t>•  Ackley:        AO-PSO 4.4 × 10⁻¹⁶   vs.   O-PSO 4.46</a:t>
            </a:r>
          </a:p>
          <a:p>
            <a:pPr algn="l">
              <a:spcAft>
                <a:spcPts val="1400"/>
              </a:spcAft>
            </a:pPr>
            <a:r>
              <a:rPr sz="2100" b="1" i="0">
                <a:solidFill>
                  <a:srgbClr val="C0392B"/>
                </a:solidFill>
                <a:latin typeface="Calibri"/>
              </a:rPr>
              <a:t>Significance:  p &lt; 10⁻⁶ on 5 of 6 benchmarks at D = 30.</a:t>
            </a:r>
          </a:p>
          <a:p>
            <a:pPr algn="l">
              <a:spcAft>
                <a:spcPts val="500"/>
              </a:spcAft>
            </a:pPr>
            <a:r>
              <a:rPr sz="2000" b="0" i="1">
                <a:solidFill>
                  <a:srgbClr val="4A4A4A"/>
                </a:solidFill>
                <a:latin typeface="Calibri"/>
              </a:rPr>
              <a:t>Honestly reported limitation on Schwefel — pointer for future 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137160"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Work Distribution</a:t>
            </a:r>
          </a:p>
          <a:p>
            <a:pPr algn="l"/>
            <a:r>
              <a:rPr sz="1400" i="1">
                <a:solidFill>
                  <a:srgbClr val="F0F3F8"/>
                </a:solidFill>
                <a:latin typeface="Calibri"/>
              </a:rPr>
              <a:t>Who did what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560320"/>
                <a:gridCol w="4572000"/>
              </a:tblGrid>
              <a:tr h="558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Value addition &amp; methodology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Aena Habib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Seven enhancements, design rationale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Implementation &amp;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Saqlain Abbas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Python implementation, runs, debugging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Results analysis &amp; plots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Inshal Adil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Convergence curves, Wilcoxon, tables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Workflow diagrams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Eman Asghar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Architecture and flowchart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Presentation design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Dua Kamal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This slide deck, visuals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Abstract, intro, conclusion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Malaika Akhter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IEEE report body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Related-work section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Sadia Mazhar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Phase-4 review condensed</a:t>
                      </a:r>
                    </a:p>
                  </a:txBody>
                  <a:tcPr>
                    <a:solidFill>
                      <a:srgbClr val="F0F3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IEEE compilation &amp;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4A4A4A"/>
                          </a:solidFill>
                        </a:rPr>
                        <a:t>Aleena Tahir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4A4A4A"/>
                          </a:solidFill>
                        </a:rPr>
                        <a:t>Final paper, references, proofreading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44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3200">
                <a:solidFill>
                  <a:srgbClr val="F0F3F8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